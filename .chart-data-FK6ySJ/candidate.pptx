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741b92086542b6" /><Relationship Type="http://schemas.openxmlformats.org/officeDocument/2006/relationships/extended-properties" Target="/docProps/app.xml" Id="Rd437702b258247b3" /><Relationship Type="http://schemas.openxmlformats.org/officeDocument/2006/relationships/officeDocument" Target="/ppt/presentation.xml" Id="Rf826d4c00d7c43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91c7542af34cb0"/>
  </p:sldMasterIdLst>
  <p:notesMasterIdLst>
    <p:notesMasterId xmlns:r="http://schemas.openxmlformats.org/officeDocument/2006/relationships" r:id="Rf7cf4d5f89b84891"/>
  </p:notesMasterIdLst>
  <p:sldIdLst>
    <p:sldId xmlns:r="http://schemas.openxmlformats.org/officeDocument/2006/relationships" id="256" r:id="R4ce10ee6d6484408"/>
    <p:sldId xmlns:r="http://schemas.openxmlformats.org/officeDocument/2006/relationships" id="257" r:id="Rf8c84b1ea58f4935"/>
    <p:sldId xmlns:r="http://schemas.openxmlformats.org/officeDocument/2006/relationships" id="258" r:id="R0024c8723f19461d"/>
    <p:sldId xmlns:r="http://schemas.openxmlformats.org/officeDocument/2006/relationships" id="259" r:id="R6c7bd90eec47493f"/>
    <p:sldId xmlns:r="http://schemas.openxmlformats.org/officeDocument/2006/relationships" id="260" r:id="R1f4b0a8b5cc34cd7"/>
    <p:sldId xmlns:r="http://schemas.openxmlformats.org/officeDocument/2006/relationships" id="261" r:id="R4b8af9ceb6b847a9"/>
    <p:sldId xmlns:r="http://schemas.openxmlformats.org/officeDocument/2006/relationships" id="262" r:id="Rbcc1e798619a4fe0"/>
    <p:sldId xmlns:r="http://schemas.openxmlformats.org/officeDocument/2006/relationships" id="263" r:id="Rcd6771f4a19b4314"/>
    <p:sldId xmlns:r="http://schemas.openxmlformats.org/officeDocument/2006/relationships" id="264" r:id="Ra6c8db514b50472f"/>
    <p:sldId xmlns:r="http://schemas.openxmlformats.org/officeDocument/2006/relationships" id="265" r:id="R262983d54d374545"/>
    <p:sldId xmlns:r="http://schemas.openxmlformats.org/officeDocument/2006/relationships" id="266" r:id="R12b83f9fe29f4f45"/>
    <p:sldId xmlns:r="http://schemas.openxmlformats.org/officeDocument/2006/relationships" id="267" r:id="Ra842fef0b8a543fa"/>
    <p:sldId xmlns:r="http://schemas.openxmlformats.org/officeDocument/2006/relationships" id="268" r:id="R3564e584cffe446c"/>
    <p:sldId xmlns:r="http://schemas.openxmlformats.org/officeDocument/2006/relationships" id="269" r:id="R302fb521d11c437c"/>
    <p:sldId xmlns:r="http://schemas.openxmlformats.org/officeDocument/2006/relationships" id="270" r:id="Rfbddf064841349e3"/>
    <p:sldId xmlns:r="http://schemas.openxmlformats.org/officeDocument/2006/relationships" id="271" r:id="R00ece2a544be42c9"/>
    <p:sldId xmlns:r="http://schemas.openxmlformats.org/officeDocument/2006/relationships" id="272" r:id="R2c9670fc1ba14022"/>
    <p:sldId xmlns:r="http://schemas.openxmlformats.org/officeDocument/2006/relationships" id="273" r:id="Ra8a8e30cd43b4f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5662869a70447d" /><Relationship Type="http://schemas.openxmlformats.org/officeDocument/2006/relationships/slideMaster" Target="/ppt/slideMasters/slideMaster1.xml" Id="Re191c7542af34cb0" /><Relationship Type="http://schemas.openxmlformats.org/officeDocument/2006/relationships/notesMaster" Target="/ppt/notesMasters/notesMaster1.xml" Id="Rf7cf4d5f89b84891" /><Relationship Type="http://schemas.openxmlformats.org/officeDocument/2006/relationships/presProps" Target="/ppt/presProps.xml" Id="Re96770d69c204728" /><Relationship Type="http://schemas.openxmlformats.org/officeDocument/2006/relationships/tableStyles" Target="/ppt/tableStyles.xml" Id="Rbe3cb8828b774cdd" /><Relationship Type="http://schemas.openxmlformats.org/officeDocument/2006/relationships/slide" Target="/ppt/slides/slide1.xml" Id="R4ce10ee6d6484408" /><Relationship Type="http://schemas.openxmlformats.org/officeDocument/2006/relationships/slide" Target="/ppt/slides/slide2.xml" Id="Rf8c84b1ea58f4935" /><Relationship Type="http://schemas.openxmlformats.org/officeDocument/2006/relationships/slide" Target="/ppt/slides/slide3.xml" Id="R0024c8723f19461d" /><Relationship Type="http://schemas.openxmlformats.org/officeDocument/2006/relationships/slide" Target="/ppt/slides/slide4.xml" Id="R6c7bd90eec47493f" /><Relationship Type="http://schemas.openxmlformats.org/officeDocument/2006/relationships/slide" Target="/ppt/slides/slide5.xml" Id="R1f4b0a8b5cc34cd7" /><Relationship Type="http://schemas.openxmlformats.org/officeDocument/2006/relationships/slide" Target="/ppt/slides/slide6.xml" Id="R4b8af9ceb6b847a9" /><Relationship Type="http://schemas.openxmlformats.org/officeDocument/2006/relationships/slide" Target="/ppt/slides/slide7.xml" Id="Rbcc1e798619a4fe0" /><Relationship Type="http://schemas.openxmlformats.org/officeDocument/2006/relationships/slide" Target="/ppt/slides/slide8.xml" Id="Rcd6771f4a19b4314" /><Relationship Type="http://schemas.openxmlformats.org/officeDocument/2006/relationships/slide" Target="/ppt/slides/slide9.xml" Id="Ra6c8db514b50472f" /><Relationship Type="http://schemas.openxmlformats.org/officeDocument/2006/relationships/slide" Target="/ppt/slides/slide10.xml" Id="R262983d54d374545" /><Relationship Type="http://schemas.openxmlformats.org/officeDocument/2006/relationships/slide" Target="/ppt/slides/slide11.xml" Id="R12b83f9fe29f4f45" /><Relationship Type="http://schemas.openxmlformats.org/officeDocument/2006/relationships/slide" Target="/ppt/slides/slide12.xml" Id="Ra842fef0b8a543fa" /><Relationship Type="http://schemas.openxmlformats.org/officeDocument/2006/relationships/slide" Target="/ppt/slides/slide13.xml" Id="R3564e584cffe446c" /><Relationship Type="http://schemas.openxmlformats.org/officeDocument/2006/relationships/slide" Target="/ppt/slides/slide14.xml" Id="R302fb521d11c437c" /><Relationship Type="http://schemas.openxmlformats.org/officeDocument/2006/relationships/slide" Target="/ppt/slides/slide15.xml" Id="Rfbddf064841349e3" /><Relationship Type="http://schemas.openxmlformats.org/officeDocument/2006/relationships/slide" Target="/ppt/slides/slide16.xml" Id="R00ece2a544be42c9" /><Relationship Type="http://schemas.openxmlformats.org/officeDocument/2006/relationships/slide" Target="/ppt/slides/slide17.xml" Id="R2c9670fc1ba14022" /><Relationship Type="http://schemas.openxmlformats.org/officeDocument/2006/relationships/slide" Target="/ppt/slides/slide18.xml" Id="Ra8a8e30cd43b4f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e363e0723a4a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28babfcf684656" /><Relationship Type="http://schemas.openxmlformats.org/officeDocument/2006/relationships/notesMaster" Target="/ppt/notesMasters/notesMaster1.xml" Id="R4cc77c7762174e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9b1f1356724a29" /><Relationship Type="http://schemas.openxmlformats.org/officeDocument/2006/relationships/notesMaster" Target="/ppt/notesMasters/notesMaster1.xml" Id="R9790588158da49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98e13db92546fa" /><Relationship Type="http://schemas.openxmlformats.org/officeDocument/2006/relationships/notesMaster" Target="/ppt/notesMasters/notesMaster1.xml" Id="R11ca84580b524a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f4e7ebf4614b05" /><Relationship Type="http://schemas.openxmlformats.org/officeDocument/2006/relationships/notesMaster" Target="/ppt/notesMasters/notesMaster1.xml" Id="Ra9af0f620b284c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a9d71a3982442f" /><Relationship Type="http://schemas.openxmlformats.org/officeDocument/2006/relationships/notesMaster" Target="/ppt/notesMasters/notesMaster1.xml" Id="Rc32a465404f742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e845f76b7047c4" /><Relationship Type="http://schemas.openxmlformats.org/officeDocument/2006/relationships/notesMaster" Target="/ppt/notesMasters/notesMaster1.xml" Id="Rd9790d8aae1f43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14e2d5b6f146f2" /><Relationship Type="http://schemas.openxmlformats.org/officeDocument/2006/relationships/notesMaster" Target="/ppt/notesMasters/notesMaster1.xml" Id="Re8c17c875b2b4e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0659eda75f4efa" /><Relationship Type="http://schemas.openxmlformats.org/officeDocument/2006/relationships/notesMaster" Target="/ppt/notesMasters/notesMaster1.xml" Id="R7fdc5f4eae1e40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2e08af08a140b0" /><Relationship Type="http://schemas.openxmlformats.org/officeDocument/2006/relationships/notesMaster" Target="/ppt/notesMasters/notesMaster1.xml" Id="R3d3aa03d002949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b0a6de6ab842e5" /><Relationship Type="http://schemas.openxmlformats.org/officeDocument/2006/relationships/notesMaster" Target="/ppt/notesMasters/notesMaster1.xml" Id="R8928a96a855b48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3e9dc875d24681" /><Relationship Type="http://schemas.openxmlformats.org/officeDocument/2006/relationships/notesMaster" Target="/ppt/notesMasters/notesMaster1.xml" Id="Rc527adbee68b43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88d40c66774fb4" /><Relationship Type="http://schemas.openxmlformats.org/officeDocument/2006/relationships/notesMaster" Target="/ppt/notesMasters/notesMaster1.xml" Id="R6de8f0befeb44f7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f8c8b3a62a4c95" /><Relationship Type="http://schemas.openxmlformats.org/officeDocument/2006/relationships/notesMaster" Target="/ppt/notesMasters/notesMaster1.xml" Id="Rb0738cffdcd345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ee666959c34259" /><Relationship Type="http://schemas.openxmlformats.org/officeDocument/2006/relationships/notesMaster" Target="/ppt/notesMasters/notesMaster1.xml" Id="Rc9970be394fe42f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8e4c04da07445d" /><Relationship Type="http://schemas.openxmlformats.org/officeDocument/2006/relationships/notesMaster" Target="/ppt/notesMasters/notesMaster1.xml" Id="Rd0b629ea27ee43b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deac38030a043c6" /><Relationship Type="http://schemas.openxmlformats.org/officeDocument/2006/relationships/notesMaster" Target="/ppt/notesMasters/notesMaster1.xml" Id="Rbaf9a8d5b28c424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17615cdc8184335" /><Relationship Type="http://schemas.openxmlformats.org/officeDocument/2006/relationships/notesMaster" Target="/ppt/notesMasters/notesMaster1.xml" Id="R044da5d28462442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cf537d8c50c4169" /><Relationship Type="http://schemas.openxmlformats.org/officeDocument/2006/relationships/notesMaster" Target="/ppt/notesMasters/notesMaster1.xml" Id="Rd1ddf754dd224e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This presentation covers the problem, system design, measured results, live demo, technical challenges, production considerations, and lessons learned.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framing based on scripts/main.py, scripts/query_parser.py, scripts/entity_extractor.py, and scripts/compliance_checker.py.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implementation uses deterministic parsing and extraction, database-backed retrieval, extractive summarization, and rule-based compliance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scripts/main.py lifespan, NLPServices, middleware, and route definitions; scripts/frontend/search.py.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scripts/main.py. OpenAPI documentation is generated automatically at /docs and /redoc.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Latency method: warm local component runtime on an Apple Silicon host. Search used 52,742 generated records. Measurements exclude network transport and database startup.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accuracy tests rerun September 11, 2026; compliance evaluation datasets; local benchmark in .codex-presentation-build/benchmark_components.py.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tests/test_week7.py, tests/test_week4.py, tests/test_numericf1.py, and data/processed/taxonomy_eval_results.csv. The structured field preservation test also scored 4,000/4,000 but does not test free text extraction.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Benchmark runs: search 15; parse 100; entities 100; summary 100; compliance 100. Search p50/p95 68.43/76.28 ms. Parse 0.07/0.07. Entities 0.03/0.03. Summary 0.18/0.36. Compliance 0.12/0.22.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timing: 30 seconds readiness, 45 seconds parsing, 75 seconds search, 75 seconds enrichment, 55 seconds compliance, 20 seconds wrap. Keep /docs open as backup if Streamlit fails.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presenting: start the API, confirm /ready, open the Streamlit search page, preload the query, and keep /docs open. Avoid typing long JSON live.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scripts/query_parser.py and scripts/main.py. Explain that to_sql returns placeholders and parameters instead of concatenating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scripts/main.py search, cached_compute, TTLCache, replace_documents, and documents_version. Future semantic search should preserve the metadata-first filter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Compliance evaluation rerun September 11, 2026. Query confusion matrix: TP 28, FP 0, FN 0, TN 20. Listing matrix: TP 17, FP 0, FN 17, TN 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scripts/main.py settings, middleware, lifespan, cached_compute, and readiness route; Docker configuration reviewed in the project root.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connect technical work to engineering judgment: define metrics precisely, preserve explainability, and measure known weaknesses.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Prioritize measurement gaps before expanding model complexity. Search relevance and summarization quality currently lack labeled benchmarks.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Additional questions to prepare for: database schema mapping, cache invalidation, CORS configuration, input limits, SQL injection protection, and how to build a human-reviewed compliance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6b6236be394d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2c1c8eb83b4e92" /><Relationship Type="http://schemas.openxmlformats.org/officeDocument/2006/relationships/slideLayout" Target="/ppt/slideLayouts/slideLayout1.xml" Id="Rda4bd92fb1eb4b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4bd92fb1eb4b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913dfbc024847" /><Relationship Type="http://schemas.openxmlformats.org/officeDocument/2006/relationships/notesSlide" Target="/ppt/notesSlides/notesSlide1.xml" Id="R362f9d8378534f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eaa7eaafe4a47" /><Relationship Type="http://schemas.openxmlformats.org/officeDocument/2006/relationships/notesSlide" Target="/ppt/notesSlides/notesSlide2.xml" Id="Rfcd142f9598844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9d5ba5c07449f" /><Relationship Type="http://schemas.openxmlformats.org/officeDocument/2006/relationships/notesSlide" Target="/ppt/notesSlides/notesSlide3.xml" Id="R9b12e9c140f949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38bee6c7940f8" /><Relationship Type="http://schemas.openxmlformats.org/officeDocument/2006/relationships/notesSlide" Target="/ppt/notesSlides/notesSlide4.xml" Id="Rb5b5f111e9fb4a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d32cb20974e57" /><Relationship Type="http://schemas.openxmlformats.org/officeDocument/2006/relationships/notesSlide" Target="/ppt/notesSlides/notesSlide5.xml" Id="R771f705b22694e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4d3d160de48de" /><Relationship Type="http://schemas.openxmlformats.org/officeDocument/2006/relationships/notesSlide" Target="/ppt/notesSlides/notesSlide6.xml" Id="Rf10250c091e642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025160fe94c55" /><Relationship Type="http://schemas.openxmlformats.org/officeDocument/2006/relationships/notesSlide" Target="/ppt/notesSlides/notesSlide7.xml" Id="R28f181124e7f45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7592b0cf243ec" /><Relationship Type="http://schemas.openxmlformats.org/officeDocument/2006/relationships/notesSlide" Target="/ppt/notesSlides/notesSlide8.xml" Id="R40e2afbc88a84d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33b40a7bf48c4" /><Relationship Type="http://schemas.openxmlformats.org/officeDocument/2006/relationships/chart" Target="/ppt/slides/charts/chart1.xml" Id="R77973d4178b54013" /><Relationship Type="http://schemas.openxmlformats.org/officeDocument/2006/relationships/notesSlide" Target="/ppt/notesSlides/notesSlide9.xml" Id="Rbeb226e95d0d4b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16e7764954d63" /><Relationship Type="http://schemas.openxmlformats.org/officeDocument/2006/relationships/notesSlide" Target="/ppt/notesSlides/notesSlide10.xml" Id="R79b79d98351b45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fc4a7d00c4605" /><Relationship Type="http://schemas.openxmlformats.org/officeDocument/2006/relationships/notesSlide" Target="/ppt/notesSlides/notesSlide11.xml" Id="R482a9551249148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3d35c15814d3b" /><Relationship Type="http://schemas.openxmlformats.org/officeDocument/2006/relationships/notesSlide" Target="/ppt/notesSlides/notesSlide12.xml" Id="Rb77544a3ad574be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96c923a094d6c" /><Relationship Type="http://schemas.openxmlformats.org/officeDocument/2006/relationships/notesSlide" Target="/ppt/notesSlides/notesSlide13.xml" Id="R297489c56c40417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a6ac0c02249d2" /><Relationship Type="http://schemas.openxmlformats.org/officeDocument/2006/relationships/notesSlide" Target="/ppt/notesSlides/notesSlide14.xml" Id="R1cc237304f5f4b5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e345a90fe40f9" /><Relationship Type="http://schemas.openxmlformats.org/officeDocument/2006/relationships/notesSlide" Target="/ppt/notesSlides/notesSlide15.xml" Id="R6460dfbc5b55421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816f280164841" /><Relationship Type="http://schemas.openxmlformats.org/officeDocument/2006/relationships/notesSlide" Target="/ppt/notesSlides/notesSlide16.xml" Id="R3288e31d694c489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d9688d9de4ea0" /><Relationship Type="http://schemas.openxmlformats.org/officeDocument/2006/relationships/notesSlide" Target="/ppt/notesSlides/notesSlide17.xml" Id="Re93f2ab92c834e4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36c19aa6c4b62" /><Relationship Type="http://schemas.openxmlformats.org/officeDocument/2006/relationships/notesSlide" Target="/ppt/notesSlides/notesSlide18.xml" Id="Rcf787a2d1dc641c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Milliseconds</c:v>
          </c:tx>
          <c:spPr>
            <a:solidFill xmlns:a="http://schemas.openxmlformats.org/drawingml/2006/main">
              <a:srgbClr val="F2B134"/>
            </a:solidFill>
          </c:spPr>
          <c:cat>
            <c:strRef>
              <c:f>'Chart Data'!$A$2:$A$5</c:f>
              <c:strCache>
                <c:ptCount val="4"/>
                <c:pt idx="0">
                  <c:v>Parse</c:v>
                </c:pt>
                <c:pt idx="1">
                  <c:v>Entities</c:v>
                </c:pt>
                <c:pt idx="2">
                  <c:v>Summary</c:v>
                </c:pt>
                <c:pt idx="3">
                  <c:v>Compliance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0.07</c:v>
                </c:pt>
                <c:pt idx="1">
                  <c:v>0.03</c:v>
                </c:pt>
                <c:pt idx="2">
                  <c:v>0.36</c:v>
                </c:pt>
                <c:pt idx="3">
                  <c:v>0.22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2A43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3B750-A8E2-4196-8002-B268688F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3875"/>
            <a:ext cx="4191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0" b="1">
                <a:solidFill>
                  <a:srgbClr val="183B56"/>
                </a:solidFill>
                <a:latin typeface="Avenir Next"/>
                <a:ea typeface="Avenir Next"/>
                <a:cs typeface="Avenir Next"/>
              </a:defRPr>
            </a:pPr>
            <a:r>
              <a:rPr sz="11250" b="1">
                <a:solidFill>
                  <a:srgbClr val="183B56"/>
                </a:solidFill>
                <a:latin typeface="Avenir Next"/>
                <a:ea typeface="Avenir Next"/>
                <a:cs typeface="Avenir Next"/>
              </a:rPr>
              <a:t>NLP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C4046-2F01-4DA4-8982-DC7111FB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226C7-C0B8-46AD-91E8-3F383E1A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Real Estate NLP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4EEFE-D288-462C-9B25-FE8AB060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Technical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4E0D5-EF63-4ACE-BABE-F4C8495E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781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Natural language search, structured extraction, summarization, and fair housing compliance through a production FastAPI 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31407-859F-4DA4-8C0E-35983513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C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FB3C8"/>
                </a:solidFill>
                <a:latin typeface="Avenir Next"/>
                <a:ea typeface="Avenir Next"/>
                <a:cs typeface="Avenir Next"/>
              </a:rPr>
              <a:t>NLP Internship  |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8776264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341D0F-3307-4B8D-A874-CBA9DCBA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The search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AEF28-947D-4B1E-B291-55F2E0DE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7A377-6265-412E-83D9-D9222719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38E23-E769-4BA4-BFE1-6C5F77B7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857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Real estate intent arrives as free text, while listing systems store structured fields and long remarks.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A7987-5F46-4495-8E39-48615B10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Natural language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59151-2B96-4CCE-BD4F-406575C7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6A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F2BAA-0DEB-4F45-907A-1D603C9E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Users mix location, price, rooms, amenities, and exclusions in one sentence.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17EC5-925A-4AFF-B7D7-DFA94862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5241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Fragmented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1419B-43FA-418A-BCFE-4C587632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051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13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1171C-F541-4D9B-99B5-87782EDA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Useful facts appear across database columns and inconsistent listing remarks.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85A99-D163-4ECA-A01D-AEA7416A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241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Compliance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1FE7D-0B15-4C92-94B6-1C2F057F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051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6F5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9A330F-B4EE-4225-AC95-0BDA9877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Search and listing language can reference protected classes or exclusionary preferences.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CB926B-973C-46C7-9A4B-777D2638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Goal: return useful property results while preserving explainable filters and visible safety checks.</a:t>
            </a:r>
          </a:p>
        </p:txBody>
      </p:sp>
    </p:spTree>
    <p:extLst>
      <p:ext uri="{BB962C8B-B14F-4D97-AF65-F5344CB8AC3E}">
        <p14:creationId xmlns:p14="http://schemas.microsoft.com/office/powerpoint/2010/main" val="10631135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85315F-944C-4D53-B3FD-EE9FE36F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Solution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AC213-4B3F-40A9-97D9-E38AEEDD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289CD-27D5-46E7-BD47-2B4D4B8B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4DB21-DD07-4D28-B64D-07D672D6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533650" cy="33337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9DDDA-87A1-4404-A8BF-B6405026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E70A4-7487-4A28-A13A-A6520BA6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859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Parse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1773B-9DB8-45EF-A2B1-B9B33C9E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F37CA-2ADD-43BD-88B0-C9DC0E9B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Convert the query into price, room, location, amenity, and exclusion filters.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C8B20-37EF-4177-A0D8-B5228561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714500"/>
            <a:ext cx="2533650" cy="33337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A832DC-6285-449A-BA26-091690D3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924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BEAE8A-2A70-43A7-929B-D35C0F91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8859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Retrieve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F4927B-1693-403B-9AB7-350AD02B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19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B6A204-C4E6-4C6B-BF6E-A726B99A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575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Apply metadata filters first, then rank matching remarks by token similarity.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C4DC6C-1B99-4AC5-BAA5-803823DD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2533650" cy="33337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D74ED-6FE3-4B85-B033-78E300AF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24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BAE759-CBFF-4936-9D2A-76FF4AAA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859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Enrich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1FBAF0-99FC-44A1-B773-0A5FD4A1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9759A4-001E-4517-A216-9E5E8766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Extract listing entities and select informative sentences for summaries.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DC4867-8D61-4E75-B67B-399D941E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14500"/>
            <a:ext cx="2533650" cy="33337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53F4E7-5084-4212-9A09-EB49D1FD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924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88C4EE-9B89-45F7-A545-16BF773B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8859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019864-DAF7-4B87-8691-200A2F93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19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87AC77-6DC8-4B8E-B08C-D0E54C9C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575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Check listing or query text for fair housing risks and return evidence.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CEB7C8-40CD-431A-A076-A765E677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FastAPI exposes the same pipeline to the Streamlit interface, OpenAPI clients, and operations tooling.</a:t>
            </a:r>
          </a:p>
        </p:txBody>
      </p:sp>
    </p:spTree>
    <p:extLst>
      <p:ext uri="{BB962C8B-B14F-4D97-AF65-F5344CB8AC3E}">
        <p14:creationId xmlns:p14="http://schemas.microsoft.com/office/powerpoint/2010/main" val="16098649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3E7B48-7A8D-45F4-BC03-19B48FAF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9C635-08B3-444D-918D-C16B18B4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38FB7-9533-4BBF-BC28-3280F7D5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388BC-AE8B-4811-BECB-BBF72C6B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2143125" cy="29527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EF0F9-856D-456E-ACB5-9343BBCD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71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User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7DA90-425C-47D5-B662-ED943B56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1609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35665-08F9-4C2C-9DD6-A9CBF516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724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Streamlit search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OpenAPI documentation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9DB32-D92C-4B54-B56B-49E9FEDA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952750"/>
            <a:ext cx="323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18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7E972-BE53-4DE1-B527-C11D5219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24050"/>
            <a:ext cx="2362200" cy="29527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D2770-C8ED-4F34-AC2D-175F756B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5265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FastAPI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52341-F4A0-4FE9-BE8D-0336EB83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9875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81378-1AF8-4B02-BE4C-D3451959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00375"/>
            <a:ext cx="19431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Pydantic validation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Routing and middleware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3B2D3-1CD0-446E-8CEC-1F0A1E7A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52750"/>
            <a:ext cx="323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18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FE17CE-F6A1-4A02-B028-D5E03361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924050"/>
            <a:ext cx="2667000" cy="2952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58778-E2B4-48B4-8F4D-9FCE4C1C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526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NLP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3B189F-261B-4591-A0BE-1FE03F18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9875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777BB3-E6E3-45CD-A2D1-4F055CFF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000375"/>
            <a:ext cx="2247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Parse and extract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Search and summarize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Compliance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C48F1A-4AE8-4436-8B45-831A5607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952750"/>
            <a:ext cx="323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18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40251D-7DE7-4E66-B36D-0484D551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24050"/>
            <a:ext cx="2514600" cy="29527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6DA40F-0225-4BD8-8F3C-909CD44E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52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Data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46AFA8-276E-43C8-952E-D4533D6C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09875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8510F9-5A60-46D3-92FA-B080412D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00375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MySQL listings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TTL response cache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9BA1AF-CAC9-4232-88D1-9A099288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The API loads database records at startup and keeps conservative NLP fallbacks available when optional resources fail.</a:t>
            </a:r>
          </a:p>
        </p:txBody>
      </p:sp>
    </p:spTree>
    <p:extLst>
      <p:ext uri="{BB962C8B-B14F-4D97-AF65-F5344CB8AC3E}">
        <p14:creationId xmlns:p14="http://schemas.microsoft.com/office/powerpoint/2010/main" val="17254804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F20076-F146-4EDF-B7AF-0C99AE12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API surface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F96B6-C5C5-4C00-B411-F0397A7E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99B74-5A44-437E-AEC3-7C7828CB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46554-00EE-495D-9192-07917B13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A0507-9CF8-4B01-83E4-4265B4B0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3620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/search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CE14A-025D-4F99-8348-5714DB7E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3620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Natural language retrieval with optional inline documents and structured filters.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B9073-8F46-4AEC-888B-3654869E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9072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FF3D4-D3AF-4B0C-8C30-CD8B7CEF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166E8-27E9-44DD-BA37-13590C46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383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/parse-query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D3D7F-F24E-4C80-A8A5-1B828350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383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Filters plus optional SQL and bound parameters.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A03F1-B9A7-4BEB-822F-D57C9CE4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6702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71552-709B-48A1-A191-7819B02E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E3C55-45C1-43AD-BE31-328FF6E2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146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/extract-entities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F84EB2-37FF-421D-A988-7DCBEC62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146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Bedrooms, bathrooms, price, square footage, and taxonomy terms.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1AFABC-E26E-44E5-80A0-C896F555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4332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23C47B-252B-4F4A-876D-2E00856B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83B05B-921F-4D46-8003-E5BE9912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909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/summarize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ECCA3-385E-49A5-A26A-2D6754C2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909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Extractive summary with sentence and character limits.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13E5CF-DFCD-48BE-B6BC-96468ABA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CA941E-5728-4884-9260-060DADDE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863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98E7D2-B2F8-47A9-8658-EFFDBB4D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672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/check-compliance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4B7534-B098-4088-B9C5-1047A5F0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672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Separate listing and query modes with evidence.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5D7E1D-A5F5-4E52-AD65-34803D40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Operations routes add readiness, health, cache statistics, cache clearing, document replacement, and database reload.</a:t>
            </a:r>
          </a:p>
        </p:txBody>
      </p:sp>
    </p:spTree>
    <p:extLst>
      <p:ext uri="{BB962C8B-B14F-4D97-AF65-F5344CB8AC3E}">
        <p14:creationId xmlns:p14="http://schemas.microsoft.com/office/powerpoint/2010/main" val="9025979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5DE09B-310F-4224-A68B-16D5FF00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Evaluation framework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85095-EAD5-4C29-995B-61108833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4F3FF-AD6B-4C24-9797-6BA87DA4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A9469-43A1-467B-A3DE-60B16FEC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Accuracy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F4ECC-79DF-406E-87B9-3ACE71B0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C4B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6B72D-F9BA-41BA-BF66-9F33A657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3095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Does the component return the expected label or field?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AB11F-AE8B-49D0-A277-DC506F82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3095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rPr>
              <a:t>Examples: intent accuracy and compliance 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4750F-8475-4254-8B2E-37283594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524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0363E-DEEE-478A-96EF-604CA2F3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1526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13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3D9CA7-AC61-497B-9B30-EDFDCB58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00300"/>
            <a:ext cx="3095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How often does the component produce a usable result or find a gold label?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26079-07A8-4F27-BADE-4595EEA7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10000"/>
            <a:ext cx="3095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rPr>
              <a:t>Examples: parser coverage and extraction recall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B7025D-E7AB-472B-ADB0-37E2CE8C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24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Latency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0A9A2-075B-4141-B410-0C3F9329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6F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B6B769-1795-40FD-8C8F-90C2012D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0300"/>
            <a:ext cx="3095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How long does the warm component path take on the local host?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2D831-A208-4621-A551-C3F0DC94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10000"/>
            <a:ext cx="3095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rPr>
              <a:t>Reported as p50 and p95 milliseconds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99D3F7-E21E-4413-9EA9-53964BD9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Labels stay explicit because coverage, recall, F1, and accuracy answer different questions.</a:t>
            </a:r>
          </a:p>
        </p:txBody>
      </p:sp>
    </p:spTree>
    <p:extLst>
      <p:ext uri="{BB962C8B-B14F-4D97-AF65-F5344CB8AC3E}">
        <p14:creationId xmlns:p14="http://schemas.microsoft.com/office/powerpoint/2010/main" val="10949829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1D8E3-6215-4B32-AA98-19879DA2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Component metrics scorecard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7ADF9-B662-4C25-AF37-B5BD9A60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764FB-61C8-496B-874C-36A1AC38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52450" y="1352550"/>
          <a:ext xmlns:a="http://schemas.openxmlformats.org/drawingml/2006/main" cx="110871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57375"/>
                <a:gridCol w="3190875"/>
                <a:gridCol w="4048125"/>
                <a:gridCol w="1990725"/>
              </a:tblGrid>
              <a:tr h="7143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Component</a:t>
                      </a:r>
                    </a:p>
                  </a:txBody>
                  <a:tcPr marL="95250" marR="95250" marT="66675" marB="66675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Quality result</a:t>
                      </a:r>
                    </a:p>
                  </a:txBody>
                  <a:tcPr marL="95250" marR="95250" marT="66675" marB="66675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Coverage result</a:t>
                      </a:r>
                    </a:p>
                  </a:txBody>
                  <a:tcPr marL="95250" marR="95250" marT="66675" marB="66675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Warm p50</a:t>
                      </a:r>
                    </a:p>
                  </a:txBody>
                  <a:tcPr marL="95250" marR="95250" marT="66675" marB="66675">
                    <a:solidFill>
                      <a:srgbClr val="102A4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Search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Relevance quality not measured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52,742 records searched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68.43 ms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Query parsing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Coverage metric only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60/60 queries produced a filter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0.07 ms</a:t>
                      </a:r>
                    </a:p>
                  </a:txBody>
                  <a:tcPr marL="95250" marR="95250" marT="66675" marB="66675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Entity extraction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Beds and baths F1 100%; price F1 93.6%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288/300 numeric labels; taxonomy recall 77%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0.03 ms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Summarization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No labeled quality set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Evaluation coverage not measured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0.18 ms</a:t>
                      </a:r>
                    </a:p>
                  </a:txBody>
                  <a:tcPr marL="95250" marR="95250" marT="66675" marB="66675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Compliance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Query accuracy 100%; listing accuracy 71.7%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Recall 100% for queries; 50% for listings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0.12 ms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21381-94BF-4EC3-977B-17545DC6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Quality gaps remain visible instead of converting missing evaluations into proxy scores.</a:t>
            </a:r>
          </a:p>
        </p:txBody>
      </p:sp>
    </p:spTree>
    <p:extLst>
      <p:ext uri="{BB962C8B-B14F-4D97-AF65-F5344CB8AC3E}">
        <p14:creationId xmlns:p14="http://schemas.microsoft.com/office/powerpoint/2010/main" val="6650461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E81311-7B62-4420-8BCD-031FF193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Accuracy and coverage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28740-259C-42C8-B9BB-9C76EA3A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9F0D2-ED34-4766-82D1-6DA04799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782D2-8E22-4772-A299-EA5E7D2C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E3D1D-8BA3-442F-A2A4-26E4F798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1811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Intent classification 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1F22F-EBE2-4CF7-BD58-0EF7FB58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811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40 held-out examples after training on 160 labeled queries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944CA-5A8E-4FE7-A808-4F13498C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57375"/>
            <a:ext cx="890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52D73-68F6-4043-BF21-13DB24A9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12E85-81A3-45F0-879E-2E47A301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Query parser 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02775-0FD2-4B72-BA9C-DB92B2DD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60 of 60 on-topic queries produced at least one filter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ADB075-DB3E-4F0C-A3FE-C5DF053F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71775"/>
            <a:ext cx="890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500ED-8C40-4D9C-8E58-36F0D1D1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6C03C-6F12-4349-9C16-72D43300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099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Bedroom and bathroom 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3908EB-46A1-4863-97CE-5E6CDF01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99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Each entity evaluated on 100 labeled remarks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0769BE-A004-4233-B3DA-1C483FD4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86175"/>
            <a:ext cx="890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16B505-35D3-4743-B15E-41322616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93.6%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3BBBBB-6068-4D73-AE0B-D6046E90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243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Price extraction F1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2D2F71-D01A-4FD4-B201-64140033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243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Precision 100% and recall 88% on 100 labels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E7288E-7655-4BFB-8A83-1B6DFBD0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00575"/>
            <a:ext cx="890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C57CBB-C363-483D-A97A-FF78E490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77.0%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8DB89B-3B11-4195-B3BE-7C15F25F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387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Taxonomy feature recall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302AE5-B538-4310-B455-535F79F9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387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191 of 248 gold labels found across 100 listings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68ABB3-537D-4475-A7A5-831BD8CB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15025"/>
            <a:ext cx="890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Parser coverage indicates a nonempty result, not exact filter correctness.</a:t>
            </a:r>
          </a:p>
        </p:txBody>
      </p:sp>
    </p:spTree>
    <p:extLst>
      <p:ext uri="{BB962C8B-B14F-4D97-AF65-F5344CB8AC3E}">
        <p14:creationId xmlns:p14="http://schemas.microsoft.com/office/powerpoint/2010/main" val="19122760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C471D-0CC9-4855-803F-44459728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Warm component latency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B5C6A-112A-4563-8209-780E7B8B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B0F2E-15BC-4CEA-B3B2-7FDB2198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895AF-E364-4AB0-85C5-9D04936D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Search over 52,742 records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2BF8C-DE3F-44ED-AC03-EA1C4F9C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952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68.43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F17FB-3DCB-490F-9D5D-B9111177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724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6A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D26FF-0958-4A82-8E0F-B18E3FEF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952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p50 milliseconds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AD9DD-62C9-472A-B7C1-44300514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1952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76.28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F9381-1691-49AC-894A-D323A9FE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81300"/>
            <a:ext cx="1724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6A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787A7-66E7-49EB-94CD-F9FFA778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14650"/>
            <a:ext cx="1952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p95 milliseconds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9856A-CA2E-430B-BBC9-A19264FB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15 warm runs using the direct service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9FEDED-A860-40CD-9A39-1FD87C20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p95 was 11% above the median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405045-F872-4659-8D8E-D7ABFADE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573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Other components, p95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6096000" y="1714500"/>
          <a:ext xmlns:a="http://schemas.openxmlformats.org/drawingml/2006/main" cx="5429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973d4178b54013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37E1C6-7C1D-407D-A937-9EB51554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Warm direct service path. Measurements exclude HTTP transport, cache hits, database startup, and concurrent load.</a:t>
            </a:r>
          </a:p>
        </p:txBody>
      </p:sp>
    </p:spTree>
    <p:extLst>
      <p:ext uri="{BB962C8B-B14F-4D97-AF65-F5344CB8AC3E}">
        <p14:creationId xmlns:p14="http://schemas.microsoft.com/office/powerpoint/2010/main" val="12159747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10F0BB-AE31-455E-89E9-C0950DDE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Five-minute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1E276-24AE-458E-9BBF-DA1700D0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953AD-E337-4482-9B8F-2DDF68BB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100F1-563F-4967-8573-C7A30527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03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6566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97AB9-119A-478A-9599-56282CB8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E79CB-D5E6-474D-B889-73A49C6C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0:00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3C7FA-511B-41AA-8722-428D3C7D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Readiness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F926F-20A7-4981-B2D4-15B64C61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Confirm API and database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687D0-DF47-4F62-9A28-98DF550A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BDF6E-392A-4F03-B393-C6099227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0:30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82C97-D266-4206-B762-012E9134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Parse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59D648-1AE0-49C5-A251-08FFB0CC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Inspect filters and safe SQL parameters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3A89CC-6BFD-46DA-99CC-E2E39763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D922D-D02F-4DF6-8D9B-0C87E5D1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1:15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647C57-7F3B-4622-8B3E-4104E5B3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A49EAF-3B38-4644-B75F-C0557F9B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Return ranked Irvine listings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2E9C02-32D0-4AA3-8FD8-41DCA176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31DD71-15D9-4BEE-8731-D5C51E68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2:30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CEB06C-48F0-40EF-9052-36EDA1FE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Enrich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8C437D-38A7-4922-93FC-E64F2A74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Extract entities and summarize a remark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37E7C2-FAB4-470C-AABF-0EE798C3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9F14B8-B095-4896-88F0-82FF4D06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3:45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CB8CF3-7FF7-4790-95CA-82AEA244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Compliance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315B40-7DA1-44C2-8C47-16536D38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Compare query and listing checks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2AEC2A-0334-42FD-BFEA-1D7D49E8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FDFF31-67DE-41A8-836E-30882974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4:40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720DA6-A170-4CC4-BD71-36E32C2E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Wrap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7D6718-BE83-4012-86A6-FB71EAF7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Show cache status and key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379478-3006-4E09-9F9B-93196177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816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Demo path: Streamlit for the audience, OpenAPI docs as the fallback interface.</a:t>
            </a:r>
          </a:p>
        </p:txBody>
      </p:sp>
    </p:spTree>
    <p:extLst>
      <p:ext uri="{BB962C8B-B14F-4D97-AF65-F5344CB8AC3E}">
        <p14:creationId xmlns:p14="http://schemas.microsoft.com/office/powerpoint/2010/main" val="9775933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41D5E5-3332-40F1-BC69-2548C66F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Demo prompts and expected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439F2-3836-4C5A-9CF5-09C0A180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47AF5-6029-4C6C-A621-0B654BAF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5FF65-61CA-415B-80EA-27D3D0D8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B4EC0-FF12-47E1-9A15-E3BF72D1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9BA5A-5656-40D7-AC9B-A8500C6C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21920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GET /ready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8B403-659B-4FA9-B959-E80221CA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2192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Database status and loaded document count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407E6-D3D2-4E86-817F-8F4A1D05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76425"/>
            <a:ext cx="9839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C8715-08E8-40BE-92C6-642DADB0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B466F-87B3-45D6-8495-4DE50E77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C6FBF3-4E8C-4D7C-856E-22D00C4F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3 bed 2 bath under 700k in Irvine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FC1BE-D082-4622-8E1E-EE92F11D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526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Price, bedroom, bathroom, and city filters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EEF7D-1681-4827-812A-0E36936D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9875"/>
            <a:ext cx="9839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178A56-0B29-43FD-981B-872F9B37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17F2D9-5876-480A-8525-4E18AFAB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97FE2F-EA5F-4986-A020-C23FD2ED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610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POST /search with the same query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ED1C1C-50A1-4CD1-852B-AD9133A2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861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Ranked matches with scores and metadata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4B0501-6AF0-4CD0-B804-C77DE04C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43325"/>
            <a:ext cx="9839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01D1F2-03CD-4279-8AE7-BE6639DA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4596E3-9987-4058-BD10-DE09C859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D6CFA1-555D-4DD8-8A3A-FAA3DDA8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1955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89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Updated 3 bed, 2 bath home with pool at $695k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112E01-68E3-4B20-8047-BEC1EB11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195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Entities followed by a two-sentence summary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46EF45-9168-4239-B9D8-09C1AC2B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76775"/>
            <a:ext cx="9839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59B54B-7F4A-42D8-8FDC-7C7EC520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29A1B5-2634-4FD5-9EBE-F948C930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B79F81-56E2-4253-810B-52A605A6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5300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Ideal for families with children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7D8840-F482-4271-89BA-CC49FF69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9530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Compliance flag, category, severity, and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C774B2-4974-4D48-9DF0-F76C1A83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53125"/>
            <a:ext cx="9839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Fallback: use /docs to execute the same requests if the frontend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11427249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F61EB7-DE7B-463B-ACB4-F83B2D43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Deep dive: query parsing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F35DC-494A-42EF-9085-29777FD7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0D344-8503-47F8-80F1-0070CAD3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9E8D2-37E1-4356-9CE1-6EC12C66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C3C69-AEF9-4A9D-9CD6-59DF3448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“3 bed 2 bath under 700k in Irvine with a pool”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35A75-1286-4A83-AF7E-DABF1CCB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29540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C4197-CDE4-44E0-B11E-CF97AF38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14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Structured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B2256-4EA6-479D-8DF3-2581FB70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price_max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38A3B-11B7-4FD1-9B4F-187BFFD7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669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700000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AF93B-C181-48DE-9532-B9036D44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C2CC9-7905-4C1C-8A6D-7A0217B8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860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bedrooms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1A5F5-24E3-4DBD-8F0C-C969ABA4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860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02F7BE-D090-448E-93E6-DA17E47F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2A723-DD2E-4898-9B8F-595C0F72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51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bathrooms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67C7E-89FD-4B54-85D9-DAF66875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051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F919AF-4366-4E82-B6C4-404462DA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7187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E04219-7BA3-4A7C-A597-5780D3DD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242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city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BC59A4-EC3B-4FA6-8286-7E9DE2F6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242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Irvine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3C6E2F-10F4-470B-AB15-513D7C2A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91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2CE058-77D0-4CD7-B0D5-1D181DC6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43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amenities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8D5829-50C4-4E12-B7A4-20591467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pool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4361A0-9FDF-4073-92B4-22CA7AF1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Challenge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8DDEDA-AEBF-4ABA-AA81-180679E5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Normalize compact forms such as 700k, distinguish exact room counts from minimums, and keep SQL values parameterized.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AFE450-FAB9-4A46-AB90-BD72B499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Measured result: 60/60 queries produced a filter. Exact-match correctness still needs a labeled benchmark.</a:t>
            </a:r>
          </a:p>
        </p:txBody>
      </p:sp>
    </p:spTree>
    <p:extLst>
      <p:ext uri="{BB962C8B-B14F-4D97-AF65-F5344CB8AC3E}">
        <p14:creationId xmlns:p14="http://schemas.microsoft.com/office/powerpoint/2010/main" val="15822674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E943DB-F922-462C-BE8B-013A5B3C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Deep dive: retrieval and caching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540FF-8ACC-43A0-AB1F-A8B2A1FA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2D953-0A2D-4CDB-BF5B-01DFBF0D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951FA-4D01-4222-8F78-2A6A31B6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2571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BFF03-8136-4460-87EE-52C829A4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Database corpus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F7568-360E-4A8C-A2B9-E5D39508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162C3-0BC9-48CE-85AC-729627E5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05125"/>
            <a:ext cx="2114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52,742 listings in the verified 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F39DF-DB98-4C9E-9364-BD3595E8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762125"/>
            <a:ext cx="2571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9C4F9-83A9-49F0-A40D-9072F45D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04787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Metadata 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EBC0CC-EB34-4F51-8103-98BDF318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95575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C8DEE-94E2-418B-BF11-782BE5FF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05125"/>
            <a:ext cx="2114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Price, rooms, and city remove invalid candidates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B5D97-F069-466F-94DC-5856E0BA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62125"/>
            <a:ext cx="2571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FC8E20-2D0D-4884-8126-F7D18801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4787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Text ranking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038B23-D538-4114-9F11-6ADF8647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95575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BA95C-BB6A-424C-BBFF-B332810F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05125"/>
            <a:ext cx="2114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Token cosine similarity orders the remaining remarks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8408B1-6C27-4A41-ABCB-4268C3E6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762125"/>
            <a:ext cx="2571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541EBD-7377-408D-80A5-BF501BCF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04787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TTL cache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006392-B0DA-4855-A50E-C417668B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695575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B37C1E-86A0-49DD-8FEB-76558969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905125"/>
            <a:ext cx="2114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Payload hash returns repeat results without recomputation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A14B19-083C-4FF2-96EF-1A5235E6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Challenge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A60E51-C8F5-48A1-8423-01C169AB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The current ranker scans the corpus, so latency grows with record count. Cache keys include the document version to prevent stale search results after reload.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779B41-EE30-49B6-857E-A261865E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Local result: 68.43 ms p50 and 76.28 ms p95 over 52,742 generated records.</a:t>
            </a:r>
          </a:p>
        </p:txBody>
      </p:sp>
    </p:spTree>
    <p:extLst>
      <p:ext uri="{BB962C8B-B14F-4D97-AF65-F5344CB8AC3E}">
        <p14:creationId xmlns:p14="http://schemas.microsoft.com/office/powerpoint/2010/main" val="10513828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F76221-9A2E-46FC-B59F-B21EDE5C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Deep dive: compliance tradeoffs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8B5EA-A91F-4838-9AFA-64A4F642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F8958-C5F4-464D-BBE3-1E86B9EE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8A8DA-2EC1-44E4-9C19-98DBD81A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Query mode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2B82D-CFD1-4B33-A760-A03DA32C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2DEDE-8024-4C61-81B1-9E949BED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405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6A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ACB20-2850-4179-9A11-1AE10AFC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accuracy on 48 labeled queries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89E0B-0BBE-4B7A-86A0-5C0CC92F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28 risky and 20 compliant examples were classified correctly.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9F4A7-6225-4714-98D9-FA63E687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33500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24623-AD37-481B-82EF-4DD4D869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3811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Listing mode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10623-1754-43F6-986F-B838C7D3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3835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71.7%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5B353-0757-4CDD-9E45-2B4DCD7D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19400"/>
            <a:ext cx="405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6F5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753E9C-4D37-48F5-B584-064FBD49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527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accuracy on 60 labeled listings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10A839-CC34-43D6-865F-6CDF031E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1475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Precision remained 100%, but recall fell to 50%. The checker missed paraphrases and indirect protected-class references.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A0193-2804-4D1E-936A-8E35BD82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Production implication: keep the checker as a review aid until listing recall improves.</a:t>
            </a:r>
          </a:p>
        </p:txBody>
      </p:sp>
    </p:spTree>
    <p:extLst>
      <p:ext uri="{BB962C8B-B14F-4D97-AF65-F5344CB8AC3E}">
        <p14:creationId xmlns:p14="http://schemas.microsoft.com/office/powerpoint/2010/main" val="8039295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D50E65-5FCE-460B-A6EB-F3DD59D6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Production considerations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54300-A4D7-4D90-94B2-C6DD6BE2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D69FE-32BE-49BB-8133-5EB8008C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9B6C5-B95B-480E-A0DC-957F904B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E83A0-3E1D-4379-B8A0-CE1D54EC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668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Rate limiting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56F27-6454-40B1-973A-80B32BDC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2668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Sliding one-second window permits 10 requests per second per client IP.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B6714-85FD-488A-8870-95C5C99B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9547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311D77-A9C4-42F6-9AFC-A4E6EC75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949D1-5A51-4A7B-9943-D4281748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431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Caching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8B35C2-96B0-450C-933D-431D85EF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431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Bounded TTL cache reduces repeat NLP work; Redis is needed for multiple workers.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FCBBE-AD48-4087-85F8-39D17363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7177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1E6D8-39DA-45E6-92E6-08C27C5D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A72416-39E9-4B18-B2EF-B597F02B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194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597E48-6E72-4836-8690-F64FA68D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194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Startup autoload and readiness state expose connection failures without hiding them.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796AD2-C327-4038-B52A-6F405152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4807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B5D958-088E-4BBB-915B-D97D7DE8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539E7C-7F4C-43F0-9A80-573F9575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957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Observability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2830B0-174B-4A33-80C8-A05D5825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957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Structured request logs include method, path, status, duration, client IP, and request ID.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6D4D59-730F-4C67-AC75-F9FBAE46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2437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C6748A-C9CF-45A9-AE85-D46E0BB0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910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B86140-9494-4663-8290-0649EF2F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720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Failure handling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2C85B0-FE98-4CEA-9F71-78B5D8BA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720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Thread-pool execution keeps slow NLP work off the event loop; fallbacks preserve basic service.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D53839-A0C8-4649-A530-027313B1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76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Credentials remain in environment variables, and the Docker image runs as a non-root user.</a:t>
            </a:r>
          </a:p>
        </p:txBody>
      </p:sp>
    </p:spTree>
    <p:extLst>
      <p:ext uri="{BB962C8B-B14F-4D97-AF65-F5344CB8AC3E}">
        <p14:creationId xmlns:p14="http://schemas.microsoft.com/office/powerpoint/2010/main" val="7859795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46F907-1360-489E-BFEC-254C1375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Project learnings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26E16-A180-4FFF-BB11-4CDEB660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5C032-C9EB-4010-91D5-53870B0D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C6399-C3A7-488C-ABB0-B64C6702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335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E2B2D-C661-49D2-A965-BDC755F2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3144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Metric definitions matter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68AB2-E1B6-400E-8E76-23589C64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3144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A 100% parser result measured nonempty output, not exact filter correctness.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844C1-ED38-46B2-86C7-425EF94B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1C52B-F9B4-4288-8076-78A38118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D0807-CB83-44D4-82B8-4CB8F66D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384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Structured filters improve trust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0ACF7-B1AD-4578-AAC0-419816F7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43840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Showing extracted constraints makes search behavior easier to inspect and debug.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E25F88-8A08-4028-95F2-AC002EC7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9087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E673D-DA82-4B63-8643-37D3D26C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40C5D-12E9-4282-9674-FEB62E72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Rules perform unevenly by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3D7F67-5C05-4BCB-B3D7-478DBA07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5623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Compliance queries were easy for the rules, while nuanced listing language reduced recall.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445DE-590F-4ED5-B8E1-7B09B1FC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148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7E4C7B-E70C-415A-89FD-4CEDF27B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C11AA9-2C7E-474C-91E7-4E58ED86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863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52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Operational behavior belongs in the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94A7D8-AD4A-4D0C-A9EF-A177DABB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8630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Readiness, cache visibility, rate limits, and request IDs support real deployment work.</a:t>
            </a:r>
          </a:p>
        </p:txBody>
      </p:sp>
    </p:spTree>
    <p:extLst>
      <p:ext uri="{BB962C8B-B14F-4D97-AF65-F5344CB8AC3E}">
        <p14:creationId xmlns:p14="http://schemas.microsoft.com/office/powerpoint/2010/main" val="4912270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49DE00-7760-4764-BE7F-05361FEF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Future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E3BBB-40F0-4BFA-8F3B-BDE52133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B9A3E-5A60-4CEB-BC35-2A03932A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7F57E-9A6A-4E5F-95D3-74F22D8B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Near term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B9CF4-8348-4DB0-BB83-FE31C476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47637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6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6FF52-B800-4C6B-BA58-02CAFB5D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2287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Add an exact-match parser benchmark and labeled summarization evaluation.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1E162-96CC-4352-A8CF-119B4DB7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02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Retrieval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81A51-A31E-479E-ACB8-6653EED8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1935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13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94D69-0E27-43F5-8103-4AA59603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71700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Connect FAISS semantic retrieval to the database corpus and report precision at 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8E9BF-CFFF-4F43-A4C4-32983119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Compliance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6B327-B0F3-4C25-9366-D4432F1D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623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6F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FBDA30-C8AF-45AF-93B4-191153E5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1467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Expand indirect language patterns, then retest listing recall without sacrificing precision.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23FCD-0C8A-427F-9A68-BA9338FC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F4B66-0575-46FF-B338-14AFCEF7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0530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6A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EB10F8-9323-4D50-8C31-0F9DA068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Move cache and rate-limit state to Redis and load test multiple API workers.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CCE778-0BE1-46A8-BC5E-74304324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Security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838F0E-2F98-498A-82BC-F031118F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4827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13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2D0EBB-D9C8-4A57-B477-FC9B521B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006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Add authentication for document reload and cache administration routes.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5F772F-F091-4D25-92BE-B0309400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Highest-value next measurement: end-to-end search relevance on real user queries.</a:t>
            </a:r>
          </a:p>
        </p:txBody>
      </p:sp>
    </p:spTree>
    <p:extLst>
      <p:ext uri="{BB962C8B-B14F-4D97-AF65-F5344CB8AC3E}">
        <p14:creationId xmlns:p14="http://schemas.microsoft.com/office/powerpoint/2010/main" val="18764993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D9434B-B172-4D6D-9049-CF3C69F5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Technical Q&amp;A 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2FE8E-70FD-4D90-8C56-EFD00A31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A3630-1002-4D18-B607-C26B49FE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86329-6BB4-4849-8961-CC931BE8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Why rules instead of an LLM?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E6DE3-883B-4399-827A-EF7878E1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1715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Rules provide deterministic behavior, low latency, and visible evidence. They also establish a baseline for later model comparison.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9564C-2779-45AD-90D0-966E20CD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696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58933-B11E-4CEA-AD48-7245EC58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What limits search quality?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0DF98-03BC-43DA-B497-8175BA66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621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The API currently uses token similarity after metadata filtering. A labeled relevance set and semantic index are the next steps.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BCB3FF-5D8D-4EDF-9550-20E44952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696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A9C2D-1503-4091-AC77-C30820C2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Why is compliance listing recall low?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31B458-0A72-4BA9-9DBE-FA8AB61B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527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Listings use indirect and contextual language that exact patterns miss. The test found 17 false negatives and no false positives.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9B761-4EAE-4A17-BF4F-B682297B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696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AEA28-A8D3-4690-A5C2-92FA0BCF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Will the rate limit work with multiple workers?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20CEB9-AF26-424D-BDC6-D07DABDC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433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Each worker has local state today. Redis or an API gateway should enforce a shared production limit.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08ED1B-F240-4091-84E6-EAEDD4A3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696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E290B2-C39C-4277-A8DD-D032DFD4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How do you prevent stale cached search results?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32AF87-24C8-44F6-8361-55EF4F8A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1339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The document version forms part of each search cache key, and reload operations clear cached entries.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1F7C5-52DE-4672-BF0B-754F11C3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Closing point: the platform demonstrates an end-to-end NLP product and makes its current measurement gaps explicit.</a:t>
            </a:r>
          </a:p>
        </p:txBody>
      </p:sp>
    </p:spTree>
    <p:extLst>
      <p:ext uri="{BB962C8B-B14F-4D97-AF65-F5344CB8AC3E}">
        <p14:creationId xmlns:p14="http://schemas.microsoft.com/office/powerpoint/2010/main" val="18262377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2026-09-11T09:14:37.8140000Z</dcterms:created>
  <dcterms:modified xsi:type="dcterms:W3CDTF">2026-09-11T09:14:37.8140000Z</dcterms:modified>
</coreProperties>
</file>