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79af55376745d7" /><Relationship Type="http://schemas.openxmlformats.org/officeDocument/2006/relationships/extended-properties" Target="/docProps/app.xml" Id="R5639270e3803401d" /><Relationship Type="http://schemas.openxmlformats.org/officeDocument/2006/relationships/officeDocument" Target="/ppt/presentation.xml" Id="Rf1dc93e426fe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e1c4a32aa043a6"/>
  </p:sldMasterIdLst>
  <p:notesMasterIdLst>
    <p:notesMasterId xmlns:r="http://schemas.openxmlformats.org/officeDocument/2006/relationships" r:id="Re1c60162111542bc"/>
  </p:notesMasterIdLst>
  <p:sldIdLst>
    <p:sldId xmlns:r="http://schemas.openxmlformats.org/officeDocument/2006/relationships" id="256" r:id="R1165604a5a324bfd"/>
    <p:sldId xmlns:r="http://schemas.openxmlformats.org/officeDocument/2006/relationships" id="257" r:id="R7e2a9c1fe0b6412b"/>
    <p:sldId xmlns:r="http://schemas.openxmlformats.org/officeDocument/2006/relationships" id="258" r:id="R415c237e63ee4e7a"/>
    <p:sldId xmlns:r="http://schemas.openxmlformats.org/officeDocument/2006/relationships" id="259" r:id="Rc50361682628441e"/>
    <p:sldId xmlns:r="http://schemas.openxmlformats.org/officeDocument/2006/relationships" id="260" r:id="R40e7565b852c443f"/>
    <p:sldId xmlns:r="http://schemas.openxmlformats.org/officeDocument/2006/relationships" id="261" r:id="Rf26b145c6d3d4909"/>
    <p:sldId xmlns:r="http://schemas.openxmlformats.org/officeDocument/2006/relationships" id="262" r:id="Rb50a0ef03f6a457a"/>
    <p:sldId xmlns:r="http://schemas.openxmlformats.org/officeDocument/2006/relationships" id="263" r:id="R22579a15047d4041"/>
    <p:sldId xmlns:r="http://schemas.openxmlformats.org/officeDocument/2006/relationships" id="264" r:id="Refc26881ecd74699"/>
    <p:sldId xmlns:r="http://schemas.openxmlformats.org/officeDocument/2006/relationships" id="265" r:id="R761b93276492433b"/>
    <p:sldId xmlns:r="http://schemas.openxmlformats.org/officeDocument/2006/relationships" id="266" r:id="R3a7ec0403e0b4f35"/>
    <p:sldId xmlns:r="http://schemas.openxmlformats.org/officeDocument/2006/relationships" id="267" r:id="R7c5fa2a1b24a4314"/>
    <p:sldId xmlns:r="http://schemas.openxmlformats.org/officeDocument/2006/relationships" id="268" r:id="Re1978d8a4ccb4c32"/>
    <p:sldId xmlns:r="http://schemas.openxmlformats.org/officeDocument/2006/relationships" id="269" r:id="Rf43220ae4228420b"/>
    <p:sldId xmlns:r="http://schemas.openxmlformats.org/officeDocument/2006/relationships" id="270" r:id="R9083cd02187d47a0"/>
    <p:sldId xmlns:r="http://schemas.openxmlformats.org/officeDocument/2006/relationships" id="271" r:id="R5048e0f9b63e4f66"/>
    <p:sldId xmlns:r="http://schemas.openxmlformats.org/officeDocument/2006/relationships" id="272" r:id="R77f25f3afd374db7"/>
    <p:sldId xmlns:r="http://schemas.openxmlformats.org/officeDocument/2006/relationships" id="273" r:id="R1a6929cc17804d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3b85078dce4f2f" /><Relationship Type="http://schemas.openxmlformats.org/officeDocument/2006/relationships/slideMaster" Target="/ppt/slideMasters/slideMaster1.xml" Id="R3ee1c4a32aa043a6" /><Relationship Type="http://schemas.openxmlformats.org/officeDocument/2006/relationships/notesMaster" Target="/ppt/notesMasters/notesMaster1.xml" Id="Re1c60162111542bc" /><Relationship Type="http://schemas.openxmlformats.org/officeDocument/2006/relationships/presProps" Target="/ppt/presProps.xml" Id="R860439a6d2c44455" /><Relationship Type="http://schemas.openxmlformats.org/officeDocument/2006/relationships/tableStyles" Target="/ppt/tableStyles.xml" Id="Rc67f7de43a8e4e50" /><Relationship Type="http://schemas.openxmlformats.org/officeDocument/2006/relationships/slide" Target="/ppt/slides/slide1.xml" Id="R1165604a5a324bfd" /><Relationship Type="http://schemas.openxmlformats.org/officeDocument/2006/relationships/slide" Target="/ppt/slides/slide2.xml" Id="R7e2a9c1fe0b6412b" /><Relationship Type="http://schemas.openxmlformats.org/officeDocument/2006/relationships/slide" Target="/ppt/slides/slide3.xml" Id="R415c237e63ee4e7a" /><Relationship Type="http://schemas.openxmlformats.org/officeDocument/2006/relationships/slide" Target="/ppt/slides/slide4.xml" Id="Rc50361682628441e" /><Relationship Type="http://schemas.openxmlformats.org/officeDocument/2006/relationships/slide" Target="/ppt/slides/slide5.xml" Id="R40e7565b852c443f" /><Relationship Type="http://schemas.openxmlformats.org/officeDocument/2006/relationships/slide" Target="/ppt/slides/slide6.xml" Id="Rf26b145c6d3d4909" /><Relationship Type="http://schemas.openxmlformats.org/officeDocument/2006/relationships/slide" Target="/ppt/slides/slide7.xml" Id="Rb50a0ef03f6a457a" /><Relationship Type="http://schemas.openxmlformats.org/officeDocument/2006/relationships/slide" Target="/ppt/slides/slide8.xml" Id="R22579a15047d4041" /><Relationship Type="http://schemas.openxmlformats.org/officeDocument/2006/relationships/slide" Target="/ppt/slides/slide9.xml" Id="Refc26881ecd74699" /><Relationship Type="http://schemas.openxmlformats.org/officeDocument/2006/relationships/slide" Target="/ppt/slides/slide10.xml" Id="R761b93276492433b" /><Relationship Type="http://schemas.openxmlformats.org/officeDocument/2006/relationships/slide" Target="/ppt/slides/slide11.xml" Id="R3a7ec0403e0b4f35" /><Relationship Type="http://schemas.openxmlformats.org/officeDocument/2006/relationships/slide" Target="/ppt/slides/slide12.xml" Id="R7c5fa2a1b24a4314" /><Relationship Type="http://schemas.openxmlformats.org/officeDocument/2006/relationships/slide" Target="/ppt/slides/slide13.xml" Id="Re1978d8a4ccb4c32" /><Relationship Type="http://schemas.openxmlformats.org/officeDocument/2006/relationships/slide" Target="/ppt/slides/slide14.xml" Id="Rf43220ae4228420b" /><Relationship Type="http://schemas.openxmlformats.org/officeDocument/2006/relationships/slide" Target="/ppt/slides/slide15.xml" Id="R9083cd02187d47a0" /><Relationship Type="http://schemas.openxmlformats.org/officeDocument/2006/relationships/slide" Target="/ppt/slides/slide16.xml" Id="R5048e0f9b63e4f66" /><Relationship Type="http://schemas.openxmlformats.org/officeDocument/2006/relationships/slide" Target="/ppt/slides/slide17.xml" Id="R77f25f3afd374db7" /><Relationship Type="http://schemas.openxmlformats.org/officeDocument/2006/relationships/slide" Target="/ppt/slides/slide18.xml" Id="R1a6929cc17804d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f89d94ad89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d556f41f241be" /><Relationship Type="http://schemas.openxmlformats.org/officeDocument/2006/relationships/notesMaster" Target="/ppt/notesMasters/notesMaster1.xml" Id="R345037dcfa9240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6a65bd63104ce8" /><Relationship Type="http://schemas.openxmlformats.org/officeDocument/2006/relationships/notesMaster" Target="/ppt/notesMasters/notesMaster1.xml" Id="R2404997836dd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bb6fbd49664cf7" /><Relationship Type="http://schemas.openxmlformats.org/officeDocument/2006/relationships/notesMaster" Target="/ppt/notesMasters/notesMaster1.xml" Id="R4b0a17c746a342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64f33098144d1" /><Relationship Type="http://schemas.openxmlformats.org/officeDocument/2006/relationships/notesMaster" Target="/ppt/notesMasters/notesMaster1.xml" Id="Ra6b01c290dcf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a52d36a97b4ebe" /><Relationship Type="http://schemas.openxmlformats.org/officeDocument/2006/relationships/notesMaster" Target="/ppt/notesMasters/notesMaster1.xml" Id="R7b0f6e26e47148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e54e41b2a42b6" /><Relationship Type="http://schemas.openxmlformats.org/officeDocument/2006/relationships/notesMaster" Target="/ppt/notesMasters/notesMaster1.xml" Id="R2fca8d5827544c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0f9c7f191842ec" /><Relationship Type="http://schemas.openxmlformats.org/officeDocument/2006/relationships/notesMaster" Target="/ppt/notesMasters/notesMaster1.xml" Id="Rd8f3b489c8164b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d0023dcddc4b10" /><Relationship Type="http://schemas.openxmlformats.org/officeDocument/2006/relationships/notesMaster" Target="/ppt/notesMasters/notesMaster1.xml" Id="R1e8ad053e8684f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d880dfda8c432b" /><Relationship Type="http://schemas.openxmlformats.org/officeDocument/2006/relationships/notesMaster" Target="/ppt/notesMasters/notesMaster1.xml" Id="R3078a7772f344c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a81152aa554c78" /><Relationship Type="http://schemas.openxmlformats.org/officeDocument/2006/relationships/notesMaster" Target="/ppt/notesMasters/notesMaster1.xml" Id="R7d342bc2fd874b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061ad4740746b1" /><Relationship Type="http://schemas.openxmlformats.org/officeDocument/2006/relationships/notesMaster" Target="/ppt/notesMasters/notesMaster1.xml" Id="R9f66cf9fc8ae4e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34d4b71e8c4b1a" /><Relationship Type="http://schemas.openxmlformats.org/officeDocument/2006/relationships/notesMaster" Target="/ppt/notesMasters/notesMaster1.xml" Id="Rea33a099112f44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7a24191213434a" /><Relationship Type="http://schemas.openxmlformats.org/officeDocument/2006/relationships/notesMaster" Target="/ppt/notesMasters/notesMaster1.xml" Id="R50a0d777bcc344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9d2ec117864299" /><Relationship Type="http://schemas.openxmlformats.org/officeDocument/2006/relationships/notesMaster" Target="/ppt/notesMasters/notesMaster1.xml" Id="R0cf60076fa3348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3d96b68f674b02" /><Relationship Type="http://schemas.openxmlformats.org/officeDocument/2006/relationships/notesMaster" Target="/ppt/notesMasters/notesMaster1.xml" Id="Re1e90b522e3c47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c75416adb04f48" /><Relationship Type="http://schemas.openxmlformats.org/officeDocument/2006/relationships/notesMaster" Target="/ppt/notesMasters/notesMaster1.xml" Id="R5e94642366214f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3ec352b63f4df6" /><Relationship Type="http://schemas.openxmlformats.org/officeDocument/2006/relationships/notesMaster" Target="/ppt/notesMasters/notesMaster1.xml" Id="Rbd0f9cb7edbf4a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dda28f842e457c" /><Relationship Type="http://schemas.openxmlformats.org/officeDocument/2006/relationships/notesMaster" Target="/ppt/notesMasters/notesMaster1.xml" Id="R6d39f26bb67b4b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presentation covers the problem, system design, measured results, live demo, technical challenges, production considerations, and lessons learned.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based on scripts/main.py, scripts/query_parser.py, scripts/entity_extractor.py, and scripts/compliance_checker.py.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deterministic parsing and extraction, database-backed retrieval, extractive summarization, and rule-based compliance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scripts/main.py lifespan, NLPServices, middleware, and route definitions; scripts/frontend/search.py.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scripts/main.py. OpenAPI documentation is generated automatically at /docs and /redoc.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 method: warm local component runtime on an Apple Silicon host. Search used 52,742 generated records. Measurements exclude network transport and database startup.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accuracy tests rerun September 11, 2026; compliance evaluation datasets; local benchmark in .codex-presentation-build/benchmark_components.py.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tests/test_week7.py, tests/test_week4.py, tests/test_numericf1.py, and data/processed/taxonomy_eval_results.csv. The structured field preservation test also scored 4,000/4,000 but does not test free text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runs: search 15; parse 100; entities 100; summary 100; compliance 100. Search p50/p95 68.43/76.28 ms. Parse 0.07/0.07. Entities 0.03/0.03. Summary 0.18/0.36. Compliance 0.12/0.22.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timing: 30 seconds readiness, 45 seconds parsing, 75 seconds search, 75 seconds enrichment, 55 seconds compliance, 20 seconds wrap. Keep /docs open as backup if Streamlit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presenting: start the API, confirm /ready, open the Streamlit search page, preload the query, and keep /docs open. Avoid typing long JSON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scripts/query_parser.py and scripts/main.py. Explain that to_sql returns placeholders and parameters instead of concatenating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search, cached_compute, TTLCache, replace_documents, and documents_version. Future semantic search should preserve the metadata-first filter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Compliance evaluation rerun September 11, 2026. Query confusion matrix: TP 28, FP 0, FN 0, TN 20. Listing matrix: TP 17, FP 0, FN 17, TN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settings, middleware, lifespan, cached_compute, and readiness route; Docker configuration reviewed in the project root.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technical work to engineering judgment: define metrics precisely, preserve explainability, and measure known weaknesses.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measurement gaps before expanding model complexity. Search relevance and summarization quality currently lack labeled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questions to prepare for: database schema mapping, cache invalidation, CORS configuration, input limits, SQL injection protection, and how to build a human-reviewed compliance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71fb279f84d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f98180f5fb4263" /><Relationship Type="http://schemas.openxmlformats.org/officeDocument/2006/relationships/slideLayout" Target="/ppt/slideLayouts/slideLayout1.xml" Id="R46fad75d3dfb41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fad75d3dfb41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efa8f57f14595" /><Relationship Type="http://schemas.openxmlformats.org/officeDocument/2006/relationships/notesSlide" Target="/ppt/notesSlides/notesSlide1.xml" Id="R3bd7febfd0c0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d9d48874c4a3c" /><Relationship Type="http://schemas.openxmlformats.org/officeDocument/2006/relationships/notesSlide" Target="/ppt/notesSlides/notesSlide2.xml" Id="R702d7e9b47ca41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6d2f002eb4832" /><Relationship Type="http://schemas.openxmlformats.org/officeDocument/2006/relationships/notesSlide" Target="/ppt/notesSlides/notesSlide3.xml" Id="Rf9d63370945043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92c82fb934812" /><Relationship Type="http://schemas.openxmlformats.org/officeDocument/2006/relationships/notesSlide" Target="/ppt/notesSlides/notesSlide4.xml" Id="R00d98c3b0ecf4b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0e27f9f1344fa" /><Relationship Type="http://schemas.openxmlformats.org/officeDocument/2006/relationships/notesSlide" Target="/ppt/notesSlides/notesSlide5.xml" Id="Rfbb113730e4f43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a9f4f9fa541c3" /><Relationship Type="http://schemas.openxmlformats.org/officeDocument/2006/relationships/notesSlide" Target="/ppt/notesSlides/notesSlide6.xml" Id="R4083c82ac17745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0f644bf4a470a" /><Relationship Type="http://schemas.openxmlformats.org/officeDocument/2006/relationships/notesSlide" Target="/ppt/notesSlides/notesSlide7.xml" Id="Ra805f1be767f43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c2d007854b35" /><Relationship Type="http://schemas.openxmlformats.org/officeDocument/2006/relationships/notesSlide" Target="/ppt/notesSlides/notesSlide8.xml" Id="Rffb6c91fd9724d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071267d7d4bfe" /><Relationship Type="http://schemas.openxmlformats.org/officeDocument/2006/relationships/chart" Target="/ppt/slides/charts/chart1.xml" Id="R0c52fbdbbff642cc" /><Relationship Type="http://schemas.openxmlformats.org/officeDocument/2006/relationships/chart" Target="/ppt/slides/charts/chart2.xml" Id="R554a30a2b21445a6" /><Relationship Type="http://schemas.openxmlformats.org/officeDocument/2006/relationships/notesSlide" Target="/ppt/notesSlides/notesSlide9.xml" Id="R870ec2ebedf44d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69ce17ee941cb" /><Relationship Type="http://schemas.openxmlformats.org/officeDocument/2006/relationships/notesSlide" Target="/ppt/notesSlides/notesSlide10.xml" Id="Re002fea702b24a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b917fb4e94957" /><Relationship Type="http://schemas.openxmlformats.org/officeDocument/2006/relationships/notesSlide" Target="/ppt/notesSlides/notesSlide11.xml" Id="R7fa580172ddb46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18cb8cc054e88" /><Relationship Type="http://schemas.openxmlformats.org/officeDocument/2006/relationships/notesSlide" Target="/ppt/notesSlides/notesSlide12.xml" Id="R6d4c8ce5200742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84942df1c40bf" /><Relationship Type="http://schemas.openxmlformats.org/officeDocument/2006/relationships/notesSlide" Target="/ppt/notesSlides/notesSlide13.xml" Id="R36426e1b9eb143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dc105363649f3" /><Relationship Type="http://schemas.openxmlformats.org/officeDocument/2006/relationships/notesSlide" Target="/ppt/notesSlides/notesSlide14.xml" Id="R6d770a8ca7de4c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a75aac07248e9" /><Relationship Type="http://schemas.openxmlformats.org/officeDocument/2006/relationships/notesSlide" Target="/ppt/notesSlides/notesSlide15.xml" Id="Rbfd19238e54b4a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b89ac86ca45d3" /><Relationship Type="http://schemas.openxmlformats.org/officeDocument/2006/relationships/notesSlide" Target="/ppt/notesSlides/notesSlide16.xml" Id="Reeb9706d6f5f49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50ef11ada496c" /><Relationship Type="http://schemas.openxmlformats.org/officeDocument/2006/relationships/notesSlide" Target="/ppt/notesSlides/notesSlide17.xml" Id="R4b21c0c5f29e46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86c663ae24edf" /><Relationship Type="http://schemas.openxmlformats.org/officeDocument/2006/relationships/notesSlide" Target="/ppt/notesSlides/notesSlide18.xml" Id="Rcfdd356ac2ce451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00A6A6"/>
            </a:solidFill>
          </c:spPr>
          <c:cat>
            <c:strLit>
              <c:ptCount val="2"/>
              <c:pt idx="0">
                <c:v>p50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68.43</c:v>
              </c:pt>
              <c:pt idx="1">
                <c:v>76.28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F2B134"/>
            </a:solidFill>
          </c:spPr>
          <c:cat>
            <c:strLit>
              <c:ptCount val="4"/>
              <c:pt idx="0">
                <c:v>Parse</c:v>
              </c:pt>
              <c:pt idx="1">
                <c:v>Entities</c:v>
              </c:pt>
              <c:pt idx="2">
                <c:v>Summary</c:v>
              </c:pt>
              <c:pt idx="3">
                <c:v>Compliance</c:v>
              </c:pt>
            </c:strLit>
          </c:cat>
          <c:val>
            <c:numLit>
              <c:formatCode>General</c:formatCode>
              <c:ptCount val="4"/>
              <c:pt idx="0">
                <c:v>0.07</c:v>
              </c:pt>
              <c:pt idx="1">
                <c:v>0.03</c:v>
              </c:pt>
              <c:pt idx="2">
                <c:v>0.36</c:v>
              </c:pt>
              <c:pt idx="3">
                <c:v>0.22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46565-1361-410D-9C1E-F16B8ABB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63E49-B529-4BE6-8ACC-66AB55E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6608E-7E40-4B0B-B912-E0F4A9EA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E5BB9-E358-4E05-858D-7744589E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Technical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36178-1708-48AE-BA01-3767AC4A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 language search, structured extraction, summarization, and fair housing compliance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34FFD-57AE-4F3B-97CF-F1B40C25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59327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5E391-C831-4102-85D8-A0696E41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0557D-4CCF-4BE9-BED9-18F0F9A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7A24E-B504-4C69-84D2-6F711D36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F418A-0446-412F-8F54-AE3467E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Real estate intent arrives as free text, while listing systems store structured fields and long remarks.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85582-7A22-40B4-9C2A-396277B5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Natural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D4686-A5A7-457B-B75C-9167B19D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EC1C7-2E8A-4184-80E3-8AB5078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Users mix location, price, rooms, amenities, and exclusions in one sentence.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D96FE-051B-49E0-A733-19A21D45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Fragmented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FB31E-3ECD-412B-BD61-5D502430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FE14C-06DE-4BB5-86F1-DA04ACBA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Useful facts appear across database columns and inconsistent listing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26ED4-D734-4A28-95B4-7324CC73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61990-BF20-4493-BEEA-03FA1D83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4315D-2B0C-45EC-AB11-E20CBD0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listing language can reference protected classes or exclusionary preferences.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3CC07-78D7-4EF9-BCAF-F8C3AB50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Goal: return useful property results while preserving explainable filters and visible safety checks.</a:t>
            </a:r>
          </a:p>
        </p:txBody>
      </p:sp>
    </p:spTree>
    <p:extLst>
      <p:ext uri="{BB962C8B-B14F-4D97-AF65-F5344CB8AC3E}">
        <p14:creationId xmlns:p14="http://schemas.microsoft.com/office/powerpoint/2010/main" val="1393067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7C5AD-88DE-4A2F-A1E7-6A3ED6D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Solution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6D0E5-8C45-4939-9D6F-55647942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136C5-6E9D-47D3-865D-8CC5621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A1BDE-47EF-48B7-9908-2C6A795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E59D9-52AA-483D-A88A-6127C5AD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546F1-3DA7-4EAA-9EF5-9DB00F9E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2A9E0-9A9A-4E93-940E-CDF47E93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6F2EF-806E-4FFE-A6E2-2AC9B290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Convert the query into price, room, location, amenity, and exclusion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1E383-91EE-433E-94AB-2B14A04B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E14EB-374C-43C5-926F-72162CA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FB8CF-F51E-4312-8B24-3D5B1CC6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64903-785F-4B8D-97C4-272717C1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78BF2-169A-4639-8778-CF714FDB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Apply metadata filters first, then rank matching remarks by token similarity.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0EBA9-CD34-4ADE-B906-67B73C0F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0FC4E-0809-4AEA-BDE6-C7BDD90B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FD418-62F4-4571-A5F9-9104BA8B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282ED-02FC-4264-B796-AF0D4C38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1D043-9C44-45B9-90D0-3B1B903D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 listing entities and select informative sentences for summaries.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10DEB-32C5-4B26-A9DE-93E05DAC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F7FD0-D2E5-4ADA-9E7B-6A7EC8DE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26741-482C-45FB-939A-6674976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8F43E-F7EA-4582-B366-37A87336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41E84-892D-4F07-AD83-7B688B4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Check listing or query text for fair housing risks and return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2C7C5-EB9E-43FC-A9A9-F0647965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FastAPI exposes the same pipeline to the Streamlit interface, OpenAPI clients, and operations tooling.</a:t>
            </a:r>
          </a:p>
        </p:txBody>
      </p:sp>
    </p:spTree>
    <p:extLst>
      <p:ext uri="{BB962C8B-B14F-4D97-AF65-F5344CB8AC3E}">
        <p14:creationId xmlns:p14="http://schemas.microsoft.com/office/powerpoint/2010/main" val="40767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A4ADB-023C-468E-9EB0-2499496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812C8-E83A-4BB4-B0B7-AE74C01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346A8-2C47-4BE2-AC02-82DE459E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CBE44-AC36-40CA-A003-D8080B4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B4AA-4000-4A1F-A225-FE088BF1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C35DD-4AC6-4BEF-84DD-968B0213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25FA9-01A7-40B4-B86F-5C51C6E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5C3A6-1160-4947-8B47-9FF98B54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1EE6F-874B-4368-94D0-2502E115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340E1-5CF7-4578-9585-7F2FA735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A3F2C-BDFC-4805-AC7A-9C4851A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103BA-8BF6-491A-84B0-B32DC9FF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Pydantic 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 and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10A8B-699C-48CE-B921-960085E2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3C05A-1020-4860-84B2-17DCE9AB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6D09E-EF27-421A-BB93-52E57AA9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41ADF-F4A0-415B-982D-0D0D5AB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23A83-1C1F-41BE-B490-00A267D1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and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61542-98D7-4886-B2AE-7D81E53B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5B95F-4C05-4457-97EB-663D287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C59A7-7664-4F53-83F1-F8C9F4CA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240E3-397E-4064-ADF9-991D84B7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6B880-B305-4AC9-AA77-A69C05FF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2CE74-F067-4E06-A09D-EB0B2244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The API loads database records at startup and keeps conservative NLP fallbacks available when optional resources fail.</a:t>
            </a:r>
          </a:p>
        </p:txBody>
      </p:sp>
    </p:spTree>
    <p:extLst>
      <p:ext uri="{BB962C8B-B14F-4D97-AF65-F5344CB8AC3E}">
        <p14:creationId xmlns:p14="http://schemas.microsoft.com/office/powerpoint/2010/main" val="858485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77CB2-A2CF-49F6-9510-C88D6FC0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D296B-0D1D-4BBA-816A-949C701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50AD0-8DB7-4106-912A-97ABDEE9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723E8-CBEC-44FE-9460-50A4B3C7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E69EF-474D-48E9-927E-073A2CA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620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183DD-E5DF-4C74-B452-76C90DDE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620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Natural language retrieval with optional inline documents and structured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4833D-084D-4EA9-B859-8214DB7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08A5A-261A-40E4-A143-CF11157F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2C885-E0A1-4E00-B899-8108047F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/parse-query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A307D-2D16-4571-AFE1-241EF2D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Filters plus optional SQL and bound parameters.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DD634-E625-4D53-8BE0-D6613EF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39C5D-3481-4CEA-9DDB-22FDC9C7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57481-9192-481F-A43D-B1849FA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/extract-entities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5D213-742A-418B-BB5B-EDA72F2E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Bedrooms, bathrooms, price, square footage,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445E2-87F4-415D-929D-0B53A085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F6D15-7C1A-424A-A9F2-75F1D27E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C0687-F6D3-47F4-A619-FC5DC067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/summarize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1C18C-6420-425B-B483-FC6EC11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909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Extractive summary with sentence and character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204B8-16A0-4F5D-A9C9-B39E5AD5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B7DDE-9050-4097-8AE5-7DD51C1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FADEB-F687-4412-9EFD-35784FE0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/check-compliance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48B7D-C86E-446E-832A-D647E12C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Separate listing and query modes with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D1BE6-E4EC-4BB7-89D0-B3D17F84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Operations routes add readiness, health, cache statistics, cache clearing, document replacement, and database reload.</a:t>
            </a:r>
          </a:p>
        </p:txBody>
      </p:sp>
    </p:spTree>
    <p:extLst>
      <p:ext uri="{BB962C8B-B14F-4D97-AF65-F5344CB8AC3E}">
        <p14:creationId xmlns:p14="http://schemas.microsoft.com/office/powerpoint/2010/main" val="742737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DF5E9-61D6-4664-89E6-0540C12E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Evaluation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B9664-6358-4CE7-B89F-71309AF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EB494-12A1-4816-B43F-3B0510F3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5898E-24ED-440D-A3C3-8132457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CAA7D-CF41-4180-A412-4372AB97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C4B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1DB91-D948-421E-940E-6A59E40C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Does the component return the expected label or field?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1C87E-617F-462D-A1EC-5DA5948F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intent accuracy and compliance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B485E-4C3A-4DE6-BAA5-D3D4A73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1A9D1-A837-4BB8-8BAF-8D8F225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8321E-0F20-498F-B13E-E3D3D45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often does the component produce a usable result or find a gold label?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E7A34-6088-4E48-8FB4-FB0948E2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parser coverage and extraction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0DC67-A363-4BBD-BFA4-14330260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B37E1-1D4A-486C-A116-B779A8B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B8DBB-B757-488E-966A-774D98B5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long does the warm component path take on the local host?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E0FB0-30E4-4DA9-8E70-D68048B5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Reported as p50 and p95 milliseconds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A3110-AA66-4238-8C47-22935A42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Labels stay explicit because coverage, recall, F1, and accuracy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530780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6ED22-604B-4EFB-9235-588FB0A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Component metrics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8811B-0A79-4343-8C6B-96EA7E8B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7626E-D671-49F8-9345-FEE34885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352550"/>
          <a:ext xmlns:a="http://schemas.openxmlformats.org/drawingml/2006/main" cx="110871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3190875"/>
                <a:gridCol w="4048125"/>
                <a:gridCol w="1990725"/>
              </a:tblGrid>
              <a:tr h="714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Component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Quality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Warm p50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Search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Relevance quality not measured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52,742 records searched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68.43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parsing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metric only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60/60 queries produced a filter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0.07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Entity extraction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Beds and baths F1 100%; price F1 93.6%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288/300 numeric labels; taxonomy recall 77%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Summarization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labeled quality set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Evaluation coverage not measured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0.18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Compliance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accuracy 100%; listing accuracy 71.7%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Recall 100% for queries; 50% for listings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0.12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D00E4-666C-4E75-BAEC-CE1822C4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Quality gaps remain visible instead of converting missing evaluations into proxy scores.</a:t>
            </a:r>
          </a:p>
        </p:txBody>
      </p:sp>
    </p:spTree>
    <p:extLst>
      <p:ext uri="{BB962C8B-B14F-4D97-AF65-F5344CB8AC3E}">
        <p14:creationId xmlns:p14="http://schemas.microsoft.com/office/powerpoint/2010/main" val="393481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D04B9-57BB-4C16-93DD-BB53D10F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Accuracy and coverage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CADBC-B0B2-4CC9-940F-754D503A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EE7C3-515C-48FB-B409-18CBE7D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701FE-8137-453B-AB10-6F1A63D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2B2E-31FF-4A47-8C5C-BF4C040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811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Intent classification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12A61-949E-46B2-B268-635DFEBB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40 held-out examples after training on 160 labeled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0BDA6-8D4F-40DC-AFE6-0ADE4F82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2D980-5643-476E-9B06-1FAA0D69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932AA-0B83-49C0-96F1-27D88E5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parser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70E6B-F9E8-4DE1-BC96-3E502ED2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60 of 60 on-topic queries produced at least one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BF61E-4809-4BB2-B21E-C4E30DAA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2196D-8972-4FB3-BD63-B6A73DE8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836C8-51C7-472F-96DE-47C8E5E8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 and bathroom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5CB30-1CDB-47DD-AB56-E5BCC695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entity evaluated on 100 labeled remarks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CA49B-80A9-4C8B-BDB0-AB4EE126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861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103BB-34DE-4A76-BA25-A2178F03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93.6%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32B19-5CA1-4291-AED7-F9D04317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 extraction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D8AF0-0547-4A8C-925A-2B1E220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100% and recall 88% on 100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13258-26AE-4480-B947-8A7F9F94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9FDD4-81A6-4909-B303-EC5B64C1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77.0%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71672-93D6-446E-9647-49FE6C13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Taxonomy feature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5409B-F752-46E9-AE19-6B4131A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191 of 248 gold labels found across 100 listings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20ABA-8971-489B-B68D-50B3E5CA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15025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Parser coverage indicates a nonempty result, not exact filter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515616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3DCAC-B2BC-4F62-8165-79410448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Warm component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DB6BD-E2A5-4537-AE13-7625362B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D7546-2032-49C3-B349-D52FA94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FD8A8-DBC3-479D-B6CB-3E696BC0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 over 52,742 records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" y="1714500"/>
          <a:ext xmlns:a="http://schemas.openxmlformats.org/drawingml/2006/main" cx="4762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52fbdbbff642c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C3625-78CD-4158-8188-3B79E648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Other components, p95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0" y="17145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4a30a2b21445a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BDBC0-FDC8-4282-88D8-4EDF955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Warm direct service path. Measurements exclude HTTP transport, cache hits, database startup, and concurrent load.</a:t>
            </a:r>
          </a:p>
        </p:txBody>
      </p:sp>
    </p:spTree>
    <p:extLst>
      <p:ext uri="{BB962C8B-B14F-4D97-AF65-F5344CB8AC3E}">
        <p14:creationId xmlns:p14="http://schemas.microsoft.com/office/powerpoint/2010/main" val="155084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CDC52-3F00-43CD-A6D9-16862399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Five-minute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BFE53-FFC0-4C1B-A8DB-A6D92D9D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28FD8-665F-466A-A7D8-BF5A4E08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73B81-B6A2-4D2B-AAB8-9A8B8B55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56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FACA0-DD39-417D-9506-70E6304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FDCE0-C1E5-4F3F-9FEC-E7047019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7713D-D49B-4FC2-B490-F1D3C3ED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04E53-3343-45B5-BC5D-81612C71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Confirm API and database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FEACC-BD43-4C30-B7CA-F520EBB9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15DFD-76A8-4FCF-9E44-AF82D9A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5A091-CF3A-434C-95BF-C03544E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71BBE-EAAD-4626-AB7D-ACD3AAF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Inspect filters and safe SQL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682E4-24D5-4859-96A8-EE63BE82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D6B7D-AD26-41B3-A479-44F61A30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1:15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A6511-26F2-46C9-859A-C819E049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660DB-DBD1-403F-9113-FC2B3345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Return ranked Irvine listings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D8FC8-F763-4556-B6E0-01CC75C6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1958A-0586-4E6F-8560-87F4A931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7D5DF-1455-4A9B-BD1A-E5EE056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2B8D4-654E-486D-AD07-187AC0D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Extract entities and summarize a remark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35C40-F2D7-4F22-AE41-08BB182A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648FE-E039-45A4-B57A-5399F5D6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3:45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47652-FB5A-4845-94B8-ACE381E7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D6A98-8158-4D28-AC71-3ACC2B66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Compare query and listing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0B415-C709-4163-8070-593E7C8B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96026-9D0A-4622-B934-1399E38F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4:40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05627-0235-40A0-8DFB-AB7C9BE2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EF7B1-7B21-4B5B-BA21-9D3661C0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 cache status and key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701B67-9D0D-42B0-832E-9E2B7B4C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Demo path: Streamlit for the audience, OpenAPI docs as the fallback interface.</a:t>
            </a:r>
          </a:p>
        </p:txBody>
      </p:sp>
    </p:spTree>
    <p:extLst>
      <p:ext uri="{BB962C8B-B14F-4D97-AF65-F5344CB8AC3E}">
        <p14:creationId xmlns:p14="http://schemas.microsoft.com/office/powerpoint/2010/main" val="461671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22D07-BA83-41CE-9A3E-7A9315AA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Demo prompts and expected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2D87D-0105-4F87-B868-D81EE9F5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3BF32-9B15-4DD4-B38E-8F6A762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85444-BDB9-448F-A362-B054B505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E5020-5FE8-4F21-B339-4767F699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94EA8-C5B6-4628-B249-4918C86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GET /ready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B9CD1-C759-41C0-B5A4-0622239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19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and loaded document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A3E54-E974-4283-B3D5-459A9EA9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764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8F97B-15AA-44FA-B33F-4C26FEE6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863D6-70DF-4083-9A07-3B42832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B9DF5-EC10-4E0A-BF13-AE245441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3 bed 2 bath under 700k in Irvine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21561-24A1-4622-BAEC-9804BFC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bedroom, bathroom, and city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B3E32-04C9-4A10-91EA-743C08CD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98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E1697-407D-40B1-A35B-66929D6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3DA9A-3A3D-49DC-896D-1E7D92A4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692F9-6637-4C16-B3EB-3C254C7A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POST /search with the same 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93D2A-3AD1-4837-8051-4ADA3797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Ranked matches with scores and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F77FF-DE6F-4B92-A91E-3471A613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433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9DD71-813B-481D-8356-BDFDB98F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2CD5B-1204-4154-B520-FBCB5324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5CA16-576D-4C94-8318-4DE99C6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Updated 3 bed, 2 bath home with pool at $695k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D9DF0-25E5-490D-8779-3E59827F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195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Entities followed by a two-sentence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0B633-3B4E-4BE7-97EA-847DAC7B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B0CBD-21F4-4744-8DBD-6FD2B506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94BED-2887-4A01-B3FB-AF82602C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6D2D4-1EE3-40A2-8F55-20C2D334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Ideal for families with children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024C94-34F6-428F-BE06-AD257D48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530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 flag, category, severity, and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93BF06-D126-460E-A9BE-08624533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53125"/>
            <a:ext cx="983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Fallback: use /docs to execute the same requests if the frontend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5446482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BB711-0F57-4E51-9F25-D8460B60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query parsing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B159B-9E84-49AF-A268-738CEBD2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5D521-514C-48E7-A109-7BB479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E9349-4258-444D-8F30-32BB5F5E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CFF7C-19F5-456A-91F8-8AE956AB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“3 bed 2 bath under 700k in Irvine with a pool”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A9480-7C5A-4C7D-BE5E-D55F4BA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954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BDBDC-04A6-4835-B20C-6BBD5715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4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Structured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E742A-8815-41B6-81D9-6F189DB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price_max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B5551-6605-4FF9-BD69-B1175DF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66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700000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A16F0-6600-4B0E-8356-3739407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9E625-3A11-422F-8B15-D7C8604A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860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3644A-B85E-4392-B651-8EC054EE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86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D32EF-D309-4F5C-877D-4503A78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C59DA-5C8B-4CB8-8FA5-AB42C534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bathrooms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A085E-19A6-4554-90E9-3DED8BB6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B4971-EBB0-4DC2-9D69-4FDA960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E1718-D2C2-4FC7-ACFB-D5D54333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1D2F5-097D-476C-8188-E8CC83B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42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Irvine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798D4-4476-46DB-8A13-9CBF20F8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24BC48-71D5-4E50-AE5D-1B5C0830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amenities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01875-47F3-4738-ACFA-7E3D1BB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AFD8C-72C3-43B3-BB38-D19B7645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880CC-23B4-4608-B2EE-30D7FDC7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Normalize compact forms such as 700k, distinguish exact room counts from minimums, and keep SQL values parameterized.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6CB6F-DD1D-433E-9EC6-BE2AD00F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Measured result: 60/60 queries produced a filter. Exact-match correctness still needs a labeled benchmark.</a:t>
            </a:r>
          </a:p>
        </p:txBody>
      </p:sp>
    </p:spTree>
    <p:extLst>
      <p:ext uri="{BB962C8B-B14F-4D97-AF65-F5344CB8AC3E}">
        <p14:creationId xmlns:p14="http://schemas.microsoft.com/office/powerpoint/2010/main" val="1100856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BBD57-BE96-4DDC-A2A4-C73B3292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retrieval and caching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B5592-9644-49A4-987D-B7D462A9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F68CE-3F0F-4DCD-989B-BD7EBE77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3A994-5F79-4655-8F05-58E818C7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33A05-07A9-46EE-8A69-D8C710BE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corpus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D2032-1A3F-4351-A390-A5D80E5B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ED85E-B00D-4FAD-BF2E-80A260D3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52,742 listings in the verified 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D5F5A-931C-49B0-BB5B-9927CF54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AF9C6-E62E-4701-870C-F130AB3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Metadata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90D14-121E-4743-8E11-3121C47A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8F35C-0560-48AE-8D3E-E997ACD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rooms, and city remove invalid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7B244-EC1E-447A-A86A-8BEF10E2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1FF32-C10E-4238-A825-D42405AF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Text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B9417-EA9C-4A9A-A469-FDFF4F6A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CA348-E745-4883-8B33-47EF3A3C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Token cosine similarity orders the remaining remarks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CE238-1011-4995-81FE-29511704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DDF48-E4E5-4E01-BA9C-805E2A1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TTL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73AF5-48FC-48D4-B516-65CEC1DF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BD8B8-E118-453D-AB8E-61AB0750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Payload hash returns repeat results without recomputation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D795A-E3EC-4A6D-A406-74C05A35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F763C-C543-4377-8748-2D68AF6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current ranker scans the corpus, so latency grows with record count. Cache keys include the document version to prevent stale search results after reload.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B04DE-2D87-4EC2-AC3C-F565343D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Local result: 68.43 ms p50 and 76.28 ms p95 over 52,742 generated records.</a:t>
            </a:r>
          </a:p>
        </p:txBody>
      </p:sp>
    </p:spTree>
    <p:extLst>
      <p:ext uri="{BB962C8B-B14F-4D97-AF65-F5344CB8AC3E}">
        <p14:creationId xmlns:p14="http://schemas.microsoft.com/office/powerpoint/2010/main" val="1634405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13827-ACC8-4498-9CE7-6083980F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compliance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65ED0-7837-44D7-AC1B-B79725FC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C517D-0ACF-4895-8DAC-929677F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40DE3-50C2-400C-BF89-B81D348C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Query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61A52-CEC2-448B-A874-EDAFFD20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D3942-0E59-4B6F-AF7A-EE380CCE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7DD5D-5C4F-48F4-9990-D2E54FCF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48 labeled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14FD9-C896-4F16-B9F1-5FDA5345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28 risky and 20 compliant examples were classified correctly.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CF1D7-CE3E-4A5D-9461-D950DB51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335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C688A-266B-4A55-A094-5B1457C0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Listing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F86C0-6541-4229-9F28-9F8B9745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F11E7-D986-4598-A247-B734DFDA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2A7F1-D2D7-4BFE-8F00-BB663DF5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60 labeled listings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E495B-DF73-4DED-A6C5-06FFC257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remained 100%, but recall fell to 50%. The checker missed paraphrases and indirect protected-class 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CB846-02C3-4F37-BD97-E3C8FB20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implication: keep the checker as a review aid until listing recall improves.</a:t>
            </a:r>
          </a:p>
        </p:txBody>
      </p:sp>
    </p:spTree>
    <p:extLst>
      <p:ext uri="{BB962C8B-B14F-4D97-AF65-F5344CB8AC3E}">
        <p14:creationId xmlns:p14="http://schemas.microsoft.com/office/powerpoint/2010/main" val="10877685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6BB8A-344A-4BE9-A313-EECC54D6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considerations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071A8-B94F-42AC-BBE8-9B67A557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39579-6237-4B95-9BD0-327F7F7D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34710-70CD-4D93-82C9-3936535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A0C16-6494-44A4-AE86-03EE919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668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Rate limiting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1BAD1-630F-4982-8441-3A8F8CA2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668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 one-second window permits 10 requests per second per client 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8BE23-FD9A-44DD-8D30-81252DCF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319D0-40E9-4084-959B-CFB80479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2CA95-83EA-4109-B7C9-6990DF34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B517A-55FD-4BAB-98FA-77CFAE5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Bounded TTL cache reduces repeat NLP work; Redis is needed for multiple workers.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F635A-98B4-4B45-B685-87CCF089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04398-747E-487D-A58D-926AF5A8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01277-1E5D-444B-B85E-CFB9ED52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4B5EE-5F48-4AE9-9450-C46D5DD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Startup autoload and readiness state expose connection failures without hiding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D7795-88F2-4AEC-9563-6D28701E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A8296-C159-4C91-B4E4-1D9A85FB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D1C2C-16E3-481E-A304-2D42DB7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Observability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66FE2-746B-4E2B-8708-AD4BFD5B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Structured request logs include method, path, status, duration, client IP, and request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874BA-3ADF-48AA-AEF2-47D43E07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6A777-FDD9-4B75-ADF9-0B8856AE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10BB6-1B9E-4435-8BEF-1D6D701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Failure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61DF4-1C76-4F23-8ACB-E651E07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Thread-pool execution keeps slow NLP work off the event loop; fallbacks preserve basic service.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C0139-49A7-4D8B-932F-C09489E0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76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Credentials remain in environment variables, and the Docker image runs as a non-root user.</a:t>
            </a:r>
          </a:p>
        </p:txBody>
      </p:sp>
    </p:spTree>
    <p:extLst>
      <p:ext uri="{BB962C8B-B14F-4D97-AF65-F5344CB8AC3E}">
        <p14:creationId xmlns:p14="http://schemas.microsoft.com/office/powerpoint/2010/main" val="7045375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91498-C430-4BFB-A112-E0E4540D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DABCA-DC8A-49BF-B54B-CEF076AE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B1EDC-6784-48C9-82B4-20E02E29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E922B-2DB9-4FF5-8935-95993690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8222B-2636-4368-9FEA-D307E0F9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14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 definitions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90345-C8F8-4AC9-990A-4A05A22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14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A 100% parser result measured nonempty output, not exact filter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0981D-918E-4510-A6B3-38CFECB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B3D5-124D-461A-855C-58DC84C9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D082A-D924-4128-AEBE-4A750862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38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Structured filters improve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3A038-D974-4B4C-968B-1323C09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384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Showing extracted constraints makes search behavior easier to inspect and debug.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42B52-5F25-4903-AE3C-BA818568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908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748D0-2ED0-4C34-B428-A80110C0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5E6AB-62BF-44EC-B7CC-F31230A4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Rules perform unevenly by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EDBCA-C580-4C88-BF64-5B7388D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Compliance queries were easy for the rules, while nuanced listing language reduced recall.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B4783-365B-452C-867B-6FA5A18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D257C-362B-4E7D-9D1C-13861D4C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B15A2-C5D2-4177-9CF4-FD15841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Operational behavior belongs in the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0375C-F155-42CF-B84F-C0669F8F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863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Readiness, cache visibility, rate limits, and request IDs support real deployment work.</a:t>
            </a:r>
          </a:p>
        </p:txBody>
      </p:sp>
    </p:spTree>
    <p:extLst>
      <p:ext uri="{BB962C8B-B14F-4D97-AF65-F5344CB8AC3E}">
        <p14:creationId xmlns:p14="http://schemas.microsoft.com/office/powerpoint/2010/main" val="7545336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58DC5-5309-4BEC-8712-7DA956C7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97338-83FF-431C-9B67-48AA7B8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7BC55-FBB5-4170-B439-E1AF6BBE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324E0-6CAF-4FA0-ADEF-968B7A8B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Near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1D371-85B5-4E95-A7E3-CF82539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763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8DEF4-A7E0-4F4D-9659-A45C59D6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28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an exact-match parser benchmark and labeled summarization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D9602-40CA-484B-916C-B83D95B3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A681F-D148-4C1C-BBC8-35FB104D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BDA9D-CB60-4F49-B83D-158063C1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Connect FAISS semantic retrieval to the database corpus and report precision at 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6A00B-15EE-494E-996B-E2958469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9F004-1768-4B38-916E-76A4D3B5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623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5998A-341C-4647-A74D-377E7319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Expand indirect language patterns, then retest listing recall without sacrificing precision.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D889B-D016-4132-AA24-77018471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6C8AF-1CD8-4269-88BA-833376C7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4B801-9D4C-47DB-ACF3-BE58C541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Move cache and rate-limit state to Redis and load test multiple API workers.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FE16E-A57D-47A4-BEF7-479E9A2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21BBD-0E38-4AC6-9B26-961EE3ED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482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67693-1C3F-4F3C-B025-71110309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00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authentication for document reload and cache administration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15E89-8825-4D3B-AD50-429C1D18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Highest-value next measurement: end-to-end search relevance on real user queries.</a:t>
            </a:r>
          </a:p>
        </p:txBody>
      </p:sp>
    </p:spTree>
    <p:extLst>
      <p:ext uri="{BB962C8B-B14F-4D97-AF65-F5344CB8AC3E}">
        <p14:creationId xmlns:p14="http://schemas.microsoft.com/office/powerpoint/2010/main" val="9650236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043AB-1737-4DA0-ADD4-8C5E7154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Technical Q&amp;A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74F68-A2B4-4407-B18A-922369AC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0644C-2D7E-4030-8FD0-AFE9A824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966B6-E177-45F8-9D07-09C482F2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rules instead of an LLM?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5BF06-55D8-4D46-AC46-4FFE2F8A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715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Rules provide deterministic behavior, low latency, and visible evidence. They also establish a baseline for later model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C2E8F-F728-4F38-B48F-65A96D6D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C7890-F428-441D-91A6-B012E16F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What limits search quality?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C9ACD-C950-4C32-999F-4269DECE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621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API currently uses token similarity after metadata filtering. A labeled relevance set and semantic index are the next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B9478-9969-4E52-BF76-8F7C5A02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3C6A4-10C6-4FFF-9765-2A21D51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is compliance listing recall low?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BFAEA-2049-4D6C-B59B-9029BEA2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527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use indirect and contextual language that exact patterns miss. The test found 17 false negatives and no false positives.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DEB20-54A4-4462-9EEE-61339C74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C9278-187F-4505-AAB9-7FDEE0C8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Will the rate limit work with multiple workers?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26C96-8793-4162-9708-95D2784C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433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worker has local state today. Redis or an API gateway should enforce a shared production limit.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3D36A-D1A6-4875-BA0A-41BF1F23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1180D-ABFF-4BFD-959E-199C733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How do you prevent stale cached search results?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20109-57E1-4BFC-B55E-E802C4B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339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document version forms part of each search cache key, and reload operations clear cached entries.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DAE3B-C3C8-49A2-9E1E-EF2F3564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Closing point: the platform demonstrates an end-to-end NLP product and makes its current measurement gaps explicit.</a:t>
            </a:r>
          </a:p>
        </p:txBody>
      </p:sp>
    </p:spTree>
    <p:extLst>
      <p:ext uri="{BB962C8B-B14F-4D97-AF65-F5344CB8AC3E}">
        <p14:creationId xmlns:p14="http://schemas.microsoft.com/office/powerpoint/2010/main" val="1523273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2026-09-11T09:12:54.8180000Z</dcterms:created>
  <dcterms:modified xsi:type="dcterms:W3CDTF">2026-09-11T09:12:54.8190000Z</dcterms:modified>
</coreProperties>
</file>