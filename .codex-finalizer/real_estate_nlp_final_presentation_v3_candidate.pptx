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d741b92086542b6" /><Relationship Type="http://schemas.openxmlformats.org/officeDocument/2006/relationships/extended-properties" Target="/docProps/app.xml" Id="Rd437702b258247b3" /><Relationship Type="http://schemas.openxmlformats.org/officeDocument/2006/relationships/officeDocument" Target="/ppt/presentation.xml" Id="Rf826d4c00d7c432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191c7542af34cb0"/>
  </p:sldMasterIdLst>
  <p:notesMasterIdLst>
    <p:notesMasterId xmlns:r="http://schemas.openxmlformats.org/officeDocument/2006/relationships" r:id="Rf7cf4d5f89b84891"/>
  </p:notesMasterIdLst>
  <p:sldIdLst>
    <p:sldId xmlns:r="http://schemas.openxmlformats.org/officeDocument/2006/relationships" id="256" r:id="R4ce10ee6d6484408"/>
    <p:sldId xmlns:r="http://schemas.openxmlformats.org/officeDocument/2006/relationships" id="257" r:id="Rf8c84b1ea58f4935"/>
    <p:sldId xmlns:r="http://schemas.openxmlformats.org/officeDocument/2006/relationships" id="258" r:id="R0024c8723f19461d"/>
    <p:sldId xmlns:r="http://schemas.openxmlformats.org/officeDocument/2006/relationships" id="259" r:id="R6c7bd90eec47493f"/>
    <p:sldId xmlns:r="http://schemas.openxmlformats.org/officeDocument/2006/relationships" id="260" r:id="R1f4b0a8b5cc34cd7"/>
    <p:sldId xmlns:r="http://schemas.openxmlformats.org/officeDocument/2006/relationships" id="261" r:id="R4b8af9ceb6b847a9"/>
    <p:sldId xmlns:r="http://schemas.openxmlformats.org/officeDocument/2006/relationships" id="262" r:id="Rbcc1e798619a4fe0"/>
    <p:sldId xmlns:r="http://schemas.openxmlformats.org/officeDocument/2006/relationships" id="263" r:id="Rcd6771f4a19b4314"/>
    <p:sldId xmlns:r="http://schemas.openxmlformats.org/officeDocument/2006/relationships" id="264" r:id="Ra6c8db514b50472f"/>
    <p:sldId xmlns:r="http://schemas.openxmlformats.org/officeDocument/2006/relationships" id="265" r:id="R262983d54d374545"/>
    <p:sldId xmlns:r="http://schemas.openxmlformats.org/officeDocument/2006/relationships" id="266" r:id="R12b83f9fe29f4f45"/>
    <p:sldId xmlns:r="http://schemas.openxmlformats.org/officeDocument/2006/relationships" id="267" r:id="Ra842fef0b8a543fa"/>
    <p:sldId xmlns:r="http://schemas.openxmlformats.org/officeDocument/2006/relationships" id="268" r:id="R3564e584cffe446c"/>
    <p:sldId xmlns:r="http://schemas.openxmlformats.org/officeDocument/2006/relationships" id="269" r:id="R302fb521d11c437c"/>
    <p:sldId xmlns:r="http://schemas.openxmlformats.org/officeDocument/2006/relationships" id="270" r:id="Rfbddf064841349e3"/>
    <p:sldId xmlns:r="http://schemas.openxmlformats.org/officeDocument/2006/relationships" id="271" r:id="R00ece2a544be42c9"/>
    <p:sldId xmlns:r="http://schemas.openxmlformats.org/officeDocument/2006/relationships" id="272" r:id="R2c9670fc1ba14022"/>
    <p:sldId xmlns:r="http://schemas.openxmlformats.org/officeDocument/2006/relationships" id="273" r:id="Ra8a8e30cd43b4f2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25662869a70447d" /><Relationship Type="http://schemas.openxmlformats.org/officeDocument/2006/relationships/slideMaster" Target="/ppt/slideMasters/slideMaster1.xml" Id="Re191c7542af34cb0" /><Relationship Type="http://schemas.openxmlformats.org/officeDocument/2006/relationships/notesMaster" Target="/ppt/notesMasters/notesMaster1.xml" Id="Rf7cf4d5f89b84891" /><Relationship Type="http://schemas.openxmlformats.org/officeDocument/2006/relationships/presProps" Target="/ppt/presProps.xml" Id="Re96770d69c204728" /><Relationship Type="http://schemas.openxmlformats.org/officeDocument/2006/relationships/tableStyles" Target="/ppt/tableStyles.xml" Id="Rbe3cb8828b774cdd" /><Relationship Type="http://schemas.openxmlformats.org/officeDocument/2006/relationships/slide" Target="/ppt/slides/slide1.xml" Id="R4ce10ee6d6484408" /><Relationship Type="http://schemas.openxmlformats.org/officeDocument/2006/relationships/slide" Target="/ppt/slides/slide2.xml" Id="Rf8c84b1ea58f4935" /><Relationship Type="http://schemas.openxmlformats.org/officeDocument/2006/relationships/slide" Target="/ppt/slides/slide3.xml" Id="R0024c8723f19461d" /><Relationship Type="http://schemas.openxmlformats.org/officeDocument/2006/relationships/slide" Target="/ppt/slides/slide4.xml" Id="R6c7bd90eec47493f" /><Relationship Type="http://schemas.openxmlformats.org/officeDocument/2006/relationships/slide" Target="/ppt/slides/slide5.xml" Id="R1f4b0a8b5cc34cd7" /><Relationship Type="http://schemas.openxmlformats.org/officeDocument/2006/relationships/slide" Target="/ppt/slides/slide6.xml" Id="R4b8af9ceb6b847a9" /><Relationship Type="http://schemas.openxmlformats.org/officeDocument/2006/relationships/slide" Target="/ppt/slides/slide7.xml" Id="Rbcc1e798619a4fe0" /><Relationship Type="http://schemas.openxmlformats.org/officeDocument/2006/relationships/slide" Target="/ppt/slides/slide8.xml" Id="Rcd6771f4a19b4314" /><Relationship Type="http://schemas.openxmlformats.org/officeDocument/2006/relationships/slide" Target="/ppt/slides/slide9.xml" Id="Ra6c8db514b50472f" /><Relationship Type="http://schemas.openxmlformats.org/officeDocument/2006/relationships/slide" Target="/ppt/slides/slide10.xml" Id="R262983d54d374545" /><Relationship Type="http://schemas.openxmlformats.org/officeDocument/2006/relationships/slide" Target="/ppt/slides/slide11.xml" Id="R12b83f9fe29f4f45" /><Relationship Type="http://schemas.openxmlformats.org/officeDocument/2006/relationships/slide" Target="/ppt/slides/slide12.xml" Id="Ra842fef0b8a543fa" /><Relationship Type="http://schemas.openxmlformats.org/officeDocument/2006/relationships/slide" Target="/ppt/slides/slide13.xml" Id="R3564e584cffe446c" /><Relationship Type="http://schemas.openxmlformats.org/officeDocument/2006/relationships/slide" Target="/ppt/slides/slide14.xml" Id="R302fb521d11c437c" /><Relationship Type="http://schemas.openxmlformats.org/officeDocument/2006/relationships/slide" Target="/ppt/slides/slide15.xml" Id="Rfbddf064841349e3" /><Relationship Type="http://schemas.openxmlformats.org/officeDocument/2006/relationships/slide" Target="/ppt/slides/slide16.xml" Id="R00ece2a544be42c9" /><Relationship Type="http://schemas.openxmlformats.org/officeDocument/2006/relationships/slide" Target="/ppt/slides/slide17.xml" Id="R2c9670fc1ba14022" /><Relationship Type="http://schemas.openxmlformats.org/officeDocument/2006/relationships/slide" Target="/ppt/slides/slide18.xml" Id="Ra8a8e30cd43b4f2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8e363e0723a4ac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828babfcf684656" /><Relationship Type="http://schemas.openxmlformats.org/officeDocument/2006/relationships/notesMaster" Target="/ppt/notesMasters/notesMaster1.xml" Id="R4cc77c7762174e9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19b1f1356724a29" /><Relationship Type="http://schemas.openxmlformats.org/officeDocument/2006/relationships/notesMaster" Target="/ppt/notesMasters/notesMaster1.xml" Id="R9790588158da496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d98e13db92546fa" /><Relationship Type="http://schemas.openxmlformats.org/officeDocument/2006/relationships/notesMaster" Target="/ppt/notesMasters/notesMaster1.xml" Id="R11ca84580b524a4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6f4e7ebf4614b05" /><Relationship Type="http://schemas.openxmlformats.org/officeDocument/2006/relationships/notesMaster" Target="/ppt/notesMasters/notesMaster1.xml" Id="Ra9af0f620b284c1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7a9d71a3982442f" /><Relationship Type="http://schemas.openxmlformats.org/officeDocument/2006/relationships/notesMaster" Target="/ppt/notesMasters/notesMaster1.xml" Id="Rc32a465404f7422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ae845f76b7047c4" /><Relationship Type="http://schemas.openxmlformats.org/officeDocument/2006/relationships/notesMaster" Target="/ppt/notesMasters/notesMaster1.xml" Id="Rd9790d8aae1f43a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714e2d5b6f146f2" /><Relationship Type="http://schemas.openxmlformats.org/officeDocument/2006/relationships/notesMaster" Target="/ppt/notesMasters/notesMaster1.xml" Id="Re8c17c875b2b4e7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40659eda75f4efa" /><Relationship Type="http://schemas.openxmlformats.org/officeDocument/2006/relationships/notesMaster" Target="/ppt/notesMasters/notesMaster1.xml" Id="R7fdc5f4eae1e407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12e08af08a140b0" /><Relationship Type="http://schemas.openxmlformats.org/officeDocument/2006/relationships/notesMaster" Target="/ppt/notesMasters/notesMaster1.xml" Id="R3d3aa03d0029494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5b0a6de6ab842e5" /><Relationship Type="http://schemas.openxmlformats.org/officeDocument/2006/relationships/notesMaster" Target="/ppt/notesMasters/notesMaster1.xml" Id="R8928a96a855b483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d3e9dc875d24681" /><Relationship Type="http://schemas.openxmlformats.org/officeDocument/2006/relationships/notesMaster" Target="/ppt/notesMasters/notesMaster1.xml" Id="Rc527adbee68b436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888d40c66774fb4" /><Relationship Type="http://schemas.openxmlformats.org/officeDocument/2006/relationships/notesMaster" Target="/ppt/notesMasters/notesMaster1.xml" Id="R6de8f0befeb44f7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cf8c8b3a62a4c95" /><Relationship Type="http://schemas.openxmlformats.org/officeDocument/2006/relationships/notesMaster" Target="/ppt/notesMasters/notesMaster1.xml" Id="Rb0738cffdcd345c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4ee666959c34259" /><Relationship Type="http://schemas.openxmlformats.org/officeDocument/2006/relationships/notesMaster" Target="/ppt/notesMasters/notesMaster1.xml" Id="Rc9970be394fe42f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38e4c04da07445d" /><Relationship Type="http://schemas.openxmlformats.org/officeDocument/2006/relationships/notesMaster" Target="/ppt/notesMasters/notesMaster1.xml" Id="Rd0b629ea27ee43b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deac38030a043c6" /><Relationship Type="http://schemas.openxmlformats.org/officeDocument/2006/relationships/notesMaster" Target="/ppt/notesMasters/notesMaster1.xml" Id="Rbaf9a8d5b28c424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17615cdc8184335" /><Relationship Type="http://schemas.openxmlformats.org/officeDocument/2006/relationships/notesMaster" Target="/ppt/notesMasters/notesMaster1.xml" Id="R044da5d28462442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cf537d8c50c4169" /><Relationship Type="http://schemas.openxmlformats.org/officeDocument/2006/relationships/notesMaster" Target="/ppt/notesMasters/notesMaster1.xml" Id="Rd1ddf754dd224ea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Opening: This presentation covers the problem, system design, measured results, live demo, technical challenges, production considerations, and lessons learned.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framing based on scripts/main.py, scripts/query_parser.py, scripts/entity_extractor.py, and scripts/compliance_checker.py.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implementation uses deterministic parsing and extraction, database-backed retrieval, extractive summarization, and rule-based compliance checks.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scripts/main.py lifespan, NLPServices, middleware, and route definitions; scripts/frontend/search.py.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scripts/main.py. OpenAPI documentation is generated automatically at /docs and /redoc.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Latency method: warm local component runtime on an Apple Silicon host. Search used 52,742 generated records. Measurements exclude network transport and database startup.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accuracy tests rerun September 11, 2026; compliance evaluation datasets; local benchmark in .codex-presentation-build/benchmark_components.py.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tests/test_week7.py, tests/test_week4.py, tests/test_numericf1.py, and data/processed/taxonomy_eval_results.csv. The structured field preservation test also scored 4,000/4,000 but does not test free text extraction.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Benchmark runs: search 15; parse 100; entities 100; summary 100; compliance 100. Search p50/p95 68.43/76.28 ms. Parse 0.07/0.07. Entities 0.03/0.03. Summary 0.18/0.36. Compliance 0.12/0.22.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 timing: 30 seconds readiness, 45 seconds parsing, 75 seconds search, 75 seconds enrichment, 55 seconds compliance, 20 seconds wrap. Keep /docs open as backup if Streamlit fails.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Before presenting: start the API, confirm /ready, open the Streamlit search page, preload the query, and keep /docs open. Avoid typing long JSON live.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scripts/query_parser.py and scripts/main.py. Explain that to_sql returns placeholders and parameters instead of concatenating values.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scripts/main.py search, cached_compute, TTLCache, replace_documents, and documents_version. Future semantic search should preserve the metadata-first filter path.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Compliance evaluation rerun September 11, 2026. Query confusion matrix: TP 28, FP 0, FN 0, TN 20. Listing matrix: TP 17, FP 0, FN 17, TN 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scripts/main.py settings, middleware, lifespan, cached_compute, and readiness route; Docker configuration reviewed in the project root.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connect technical work to engineering judgment: define metrics precisely, preserve explainability, and measure known weaknesses.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Prioritize measurement gaps before expanding model complexity. Search relevance and summarization quality currently lack labeled benchmarks.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Additional questions to prepare for: database schema mapping, cache invalidation, CORS configuration, input limits, SQL injection protection, and how to build a human-reviewed compliance workflow.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6b6236be394dc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62c1c8eb83b4e92" /><Relationship Type="http://schemas.openxmlformats.org/officeDocument/2006/relationships/slideLayout" Target="/ppt/slideLayouts/slideLayout1.xml" Id="Rda4bd92fb1eb4b4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a4bd92fb1eb4b4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6913dfbc024847" /><Relationship Type="http://schemas.openxmlformats.org/officeDocument/2006/relationships/notesSlide" Target="/ppt/notesSlides/notesSlide1.xml" Id="R362f9d8378534fa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3eaa7eaafe4a47" /><Relationship Type="http://schemas.openxmlformats.org/officeDocument/2006/relationships/notesSlide" Target="/ppt/notesSlides/notesSlide2.xml" Id="Rfcd142f95988444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b9d5ba5c07449f" /><Relationship Type="http://schemas.openxmlformats.org/officeDocument/2006/relationships/notesSlide" Target="/ppt/notesSlides/notesSlide3.xml" Id="R9b12e9c140f9495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338bee6c7940f8" /><Relationship Type="http://schemas.openxmlformats.org/officeDocument/2006/relationships/notesSlide" Target="/ppt/notesSlides/notesSlide4.xml" Id="Rb5b5f111e9fb4a7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ad32cb20974e57" /><Relationship Type="http://schemas.openxmlformats.org/officeDocument/2006/relationships/notesSlide" Target="/ppt/notesSlides/notesSlide5.xml" Id="R771f705b22694eb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b4d3d160de48de" /><Relationship Type="http://schemas.openxmlformats.org/officeDocument/2006/relationships/notesSlide" Target="/ppt/notesSlides/notesSlide6.xml" Id="Rf10250c091e642c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7025160fe94c55" /><Relationship Type="http://schemas.openxmlformats.org/officeDocument/2006/relationships/notesSlide" Target="/ppt/notesSlides/notesSlide7.xml" Id="R28f181124e7f45c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27592b0cf243ec" /><Relationship Type="http://schemas.openxmlformats.org/officeDocument/2006/relationships/notesSlide" Target="/ppt/notesSlides/notesSlide8.xml" Id="R40e2afbc88a84d6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b33b40a7bf48c4" /><Relationship Type="http://schemas.openxmlformats.org/officeDocument/2006/relationships/chart" Target="/ppt/slides/charts/chart1.xml" Id="R77973d4178b54013" /><Relationship Type="http://schemas.openxmlformats.org/officeDocument/2006/relationships/notesSlide" Target="/ppt/notesSlides/notesSlide9.xml" Id="Rbeb226e95d0d4b3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816e7764954d63" /><Relationship Type="http://schemas.openxmlformats.org/officeDocument/2006/relationships/notesSlide" Target="/ppt/notesSlides/notesSlide10.xml" Id="R79b79d98351b454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0fc4a7d00c4605" /><Relationship Type="http://schemas.openxmlformats.org/officeDocument/2006/relationships/notesSlide" Target="/ppt/notesSlides/notesSlide11.xml" Id="R482a95512491483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53d35c15814d3b" /><Relationship Type="http://schemas.openxmlformats.org/officeDocument/2006/relationships/notesSlide" Target="/ppt/notesSlides/notesSlide12.xml" Id="Rb77544a3ad574be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b96c923a094d6c" /><Relationship Type="http://schemas.openxmlformats.org/officeDocument/2006/relationships/notesSlide" Target="/ppt/notesSlides/notesSlide13.xml" Id="R297489c56c40417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4a6ac0c02249d2" /><Relationship Type="http://schemas.openxmlformats.org/officeDocument/2006/relationships/notesSlide" Target="/ppt/notesSlides/notesSlide14.xml" Id="R1cc237304f5f4b5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7e345a90fe40f9" /><Relationship Type="http://schemas.openxmlformats.org/officeDocument/2006/relationships/notesSlide" Target="/ppt/notesSlides/notesSlide15.xml" Id="R6460dfbc5b55421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2816f280164841" /><Relationship Type="http://schemas.openxmlformats.org/officeDocument/2006/relationships/notesSlide" Target="/ppt/notesSlides/notesSlide16.xml" Id="R3288e31d694c489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bd9688d9de4ea0" /><Relationship Type="http://schemas.openxmlformats.org/officeDocument/2006/relationships/notesSlide" Target="/ppt/notesSlides/notesSlide17.xml" Id="Re93f2ab92c834e4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436c19aa6c4b62" /><Relationship Type="http://schemas.openxmlformats.org/officeDocument/2006/relationships/notesSlide" Target="/ppt/notesSlides/notesSlide18.xml" Id="Rcf787a2d1dc641c7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Milliseconds</c:v>
          </c:tx>
          <c:spPr>
            <a:solidFill xmlns:a="http://schemas.openxmlformats.org/drawingml/2006/main">
              <a:srgbClr val="F2B134"/>
            </a:solidFill>
          </c:spPr>
          <c:cat>
            <c:strLit>
              <c:ptCount val="4"/>
              <c:pt idx="0">
                <c:v>Parse</c:v>
              </c:pt>
              <c:pt idx="1">
                <c:v>Entities</c:v>
              </c:pt>
              <c:pt idx="2">
                <c:v>Summary</c:v>
              </c:pt>
              <c:pt idx="3">
                <c:v>Compliance</c:v>
              </c:pt>
            </c:strLit>
          </c:cat>
          <c:val>
            <c:numLit>
              <c:formatCode>General</c:formatCode>
              <c:ptCount val="4"/>
              <c:pt idx="0">
                <c:v>0.07</c:v>
              </c:pt>
              <c:pt idx="1">
                <c:v>0.03</c:v>
              </c:pt>
              <c:pt idx="2">
                <c:v>0.36</c:v>
              </c:pt>
              <c:pt idx="3">
                <c:v>0.22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102A43"/>
                  </a:solidFill>
                  <a:latin typeface="Avenir Next"/>
                  <a:ea typeface="Avenir Next"/>
                  <a:cs typeface="Avenir Next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BD5E1"/>
              </a:solidFill>
              <a:prstDash val="solid"/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27D98"/>
                </a:solidFill>
                <a:latin typeface="Avenir Next"/>
                <a:ea typeface="Avenir Next"/>
                <a:cs typeface="Avenir Next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BD5E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93B750-A8E2-4196-8002-B268688F2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3875"/>
            <a:ext cx="4191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0" b="1">
                <a:solidFill>
                  <a:srgbClr val="183B56"/>
                </a:solidFill>
                <a:latin typeface="Avenir Next"/>
                <a:ea typeface="Avenir Next"/>
                <a:cs typeface="Avenir Next"/>
              </a:defRPr>
            </a:pPr>
            <a:r>
              <a:rPr sz="11250" b="1">
                <a:solidFill>
                  <a:srgbClr val="183B56"/>
                </a:solidFill>
                <a:latin typeface="Avenir Next"/>
                <a:ea typeface="Avenir Next"/>
                <a:cs typeface="Avenir Next"/>
              </a:rPr>
              <a:t>NLP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9C4046-2F01-4DA4-8982-DC7111FBC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685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9226C7-C0B8-46AD-91E8-3F383E1AD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8096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40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Real Estate NLP Platform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24EEFE-D288-462C-9B25-FE8AB0607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95600"/>
            <a:ext cx="533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EC4B6"/>
                </a:solidFill>
                <a:latin typeface="Avenir Next"/>
                <a:ea typeface="Avenir Next"/>
                <a:cs typeface="Avenir Next"/>
              </a:defRPr>
            </a:pPr>
            <a:r>
              <a:rPr sz="1950" b="0">
                <a:solidFill>
                  <a:srgbClr val="2EC4B6"/>
                </a:solidFill>
                <a:latin typeface="Avenir Next"/>
                <a:ea typeface="Avenir Next"/>
                <a:cs typeface="Avenir Next"/>
              </a:rPr>
              <a:t>Technical project 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74E0D5-EF63-4ACE-BABE-F4C8495EF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7810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9E2EC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>
                <a:solidFill>
                  <a:srgbClr val="D9E2EC"/>
                </a:solidFill>
                <a:latin typeface="Avenir Next"/>
                <a:ea typeface="Avenir Next"/>
                <a:cs typeface="Avenir Next"/>
              </a:rPr>
              <a:t>Natural language search, structured extraction, summarization, and fair housing compliance through a production FastAPI service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431407-859F-4DA4-8C0E-35983513C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4360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3C8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9FB3C8"/>
                </a:solidFill>
                <a:latin typeface="Avenir Next"/>
                <a:ea typeface="Avenir Next"/>
                <a:cs typeface="Avenir Next"/>
              </a:rPr>
              <a:t>NLP Internship  | 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18776264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341D0F-3307-4B8D-A874-CBA9DCBA6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The search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4AEF28-947D-4B1E-B291-55F2E0DEB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9575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F7A377-6265-412E-83D9-D9222719D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438E23-E769-4BA4-BFE1-6C5F77B74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857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210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Real estate intent arrives as free text, while listing systems store structured fields and long remarks.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AA7987-5F46-4495-8E39-48615B101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24125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Natural language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C59151-2B96-4CCE-BD4F-406575C74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0515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A6A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7F2BAA-0DEB-4F45-907A-1D603C9E9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Users mix location, price, rooms, amenities, and exclusions in one sentence.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F17EC5-925A-4AFF-B7D7-DFA948622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524125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2B134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F2B134"/>
                </a:solidFill>
                <a:latin typeface="Avenir Next"/>
                <a:ea typeface="Avenir Next"/>
                <a:cs typeface="Avenir Next"/>
              </a:rPr>
              <a:t>Fragmented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71419B-43FA-418A-BCFE-4C5876323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10515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2B13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71171C-F541-4D9B-99B5-87782EDA8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3337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Useful facts appear across database columns and inconsistent listing remarks.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185A99-D163-4ECA-A01D-AEA7416A8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524125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76F51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E76F51"/>
                </a:solidFill>
                <a:latin typeface="Avenir Next"/>
                <a:ea typeface="Avenir Next"/>
                <a:cs typeface="Avenir Next"/>
              </a:rPr>
              <a:t>Compliance risk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01FE7D-0B15-4C92-94B6-1C2F057F0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10515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76F5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9A330F-B4EE-4225-AC95-0BDA98774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3337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Search and listing language can reference protected classes or exclusionary preferences.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CB926B-973C-46C7-9A4B-777D26382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19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627D98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627D98"/>
                </a:solidFill>
                <a:latin typeface="Avenir Next"/>
                <a:ea typeface="Avenir Next"/>
                <a:cs typeface="Avenir Next"/>
              </a:rPr>
              <a:t>Goal: return useful property results while preserving explainable filters and visible safety checks.</a:t>
            </a:r>
          </a:p>
        </p:txBody>
      </p:sp>
    </p:spTree>
    <p:extLst>
      <p:ext uri="{BB962C8B-B14F-4D97-AF65-F5344CB8AC3E}">
        <p14:creationId xmlns:p14="http://schemas.microsoft.com/office/powerpoint/2010/main" val="10631135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85315F-944C-4D53-B3FD-EE9FE36F5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Solution approach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4AC213-4B3F-40A9-97D9-E38AEEDDD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9575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E289CD-27D5-46E7-BD47-2B4D4B8BC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94DB21-DD07-4D28-B64D-07D672D60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2533650" cy="3333750"/>
          </a:xfrm>
          <a:prstGeom xmlns:a="http://schemas.openxmlformats.org/drawingml/2006/main" prst="roundRect">
            <a:avLst>
              <a:gd name="adj" fmla="val 3008"/>
            </a:avLst>
          </a:prstGeom>
          <a:solidFill xmlns:a="http://schemas.openxmlformats.org/drawingml/2006/main">
            <a:srgbClr val="E8F1F2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79DDDA-87A1-4404-A8BF-B64050261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240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AE70A4-7487-4A28-A13A-A6520BA6F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88595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Parse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A1773B-9DB8-45EF-A2B1-B9B33C9E9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19375"/>
            <a:ext cx="200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BF37CA-2ADD-43BD-88B0-C9DC0E9B5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20383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Convert the query into price, room, location, amenity, and exclusion filters.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4C8B20-37EF-4177-A0D8-B52285612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1714500"/>
            <a:ext cx="2533650" cy="3333750"/>
          </a:xfrm>
          <a:prstGeom xmlns:a="http://schemas.openxmlformats.org/drawingml/2006/main" prst="roundRect">
            <a:avLst>
              <a:gd name="adj" fmla="val 3008"/>
            </a:avLst>
          </a:prstGeom>
          <a:solidFill xmlns:a="http://schemas.openxmlformats.org/drawingml/2006/main">
            <a:srgbClr val="DDEFFC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A832DC-6285-449A-BA26-091690D34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19240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BEAE8A-2A70-43A7-929B-D35C0F91B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188595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Retrieve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F4927B-1693-403B-9AB7-350AD02BA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619375"/>
            <a:ext cx="200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B6A204-C4E6-4C6B-BF6E-A726B99AB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857500"/>
            <a:ext cx="20383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Apply metadata filters first, then rank matching remarks by token similarity.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C4DC6C-1B99-4AC5-BAA5-803823DD4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14500"/>
            <a:ext cx="2533650" cy="3333750"/>
          </a:xfrm>
          <a:prstGeom xmlns:a="http://schemas.openxmlformats.org/drawingml/2006/main" prst="roundRect">
            <a:avLst>
              <a:gd name="adj" fmla="val 3008"/>
            </a:avLst>
          </a:prstGeom>
          <a:solidFill xmlns:a="http://schemas.openxmlformats.org/drawingml/2006/main">
            <a:srgbClr val="E8F5F1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2D74ED-6FE3-4B85-B033-78E300AFD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9240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BAE759-CBFF-4936-9D2A-76FF4AAA1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88595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Enrich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1FBAF0-99FC-44A1-B773-0A5FD4A12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19375"/>
            <a:ext cx="200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9759A4-001E-4517-A216-9E5E87666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57500"/>
            <a:ext cx="20383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Extract listing entities and select informative sentences for summaries.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DC4867-8D61-4E75-B67B-399D941E4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714500"/>
            <a:ext cx="2533650" cy="3333750"/>
          </a:xfrm>
          <a:prstGeom xmlns:a="http://schemas.openxmlformats.org/drawingml/2006/main" prst="roundRect">
            <a:avLst>
              <a:gd name="adj" fmla="val 3008"/>
            </a:avLst>
          </a:prstGeom>
          <a:solidFill xmlns:a="http://schemas.openxmlformats.org/drawingml/2006/main">
            <a:srgbClr val="FFF1D6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53F4E7-5084-4212-9A09-EB49D1FDC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19240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88C4EE-9B89-45F7-A545-16BF773B1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188595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Review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019864-DAF7-4B87-8691-200A2F93C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619375"/>
            <a:ext cx="200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87AC77-6DC8-4B8E-B08C-D0E54C9C5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857500"/>
            <a:ext cx="20383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Check listing or query text for fair housing risks and return evidence.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CEB7C8-40CD-431A-A076-A765E6770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626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627D98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627D98"/>
                </a:solidFill>
                <a:latin typeface="Avenir Next"/>
                <a:ea typeface="Avenir Next"/>
                <a:cs typeface="Avenir Next"/>
              </a:rPr>
              <a:t>FastAPI exposes the same pipeline to the Streamlit interface, OpenAPI clients, and operations tooling.</a:t>
            </a:r>
          </a:p>
        </p:txBody>
      </p:sp>
    </p:spTree>
    <p:extLst>
      <p:ext uri="{BB962C8B-B14F-4D97-AF65-F5344CB8AC3E}">
        <p14:creationId xmlns:p14="http://schemas.microsoft.com/office/powerpoint/2010/main" val="16098649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3E7B48-7A8D-45F4-BC03-19B48FAFC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System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09C635-08B3-444D-918D-C16B18B48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9575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B38FB7-9533-4BBF-BC28-3280F7D53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B388BC-AE8B-4811-BECB-BBF72C6BC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2143125" cy="2952750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E8F1F2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9EF0F9-856D-456E-ACB5-9343BBCD3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52650"/>
            <a:ext cx="1762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715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User experience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F7DA90-425C-47D5-B662-ED943B562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09875"/>
            <a:ext cx="16097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F35665-08F9-4C2C-9DD6-A9CBF516D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0375"/>
            <a:ext cx="17240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Streamlit search</a:t>
            </a:r>
          </a:p>
          <a:p xmlns:a="http://schemas.openxmlformats.org/drawingml/2006/main">
            <a:pPr algn="ctr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OpenAPI documentation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99DB32-D92C-4B54-B56B-49E9FEDA1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2952750"/>
            <a:ext cx="323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018"/>
          </a:bodyPr>
          <a:lstStyle xmlns:a="http://schemas.openxmlformats.org/drawingml/2006/main"/>
          <a:p xmlns:a="http://schemas.openxmlformats.org/drawingml/2006/main">
            <a:pPr algn="ctr">
              <a:defRPr sz="3900" b="0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3900" b="0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07E972-BE53-4DE1-B527-C11D52192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924050"/>
            <a:ext cx="2362200" cy="295275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DDEFFC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5D2770-C8ED-4F34-AC2D-175F756BA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152650"/>
            <a:ext cx="1981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FastAPI service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B52341-F4A0-4FE9-BE8D-0336EB835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09875"/>
            <a:ext cx="1828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F81378-1AF8-4B02-BE4C-D34519596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000375"/>
            <a:ext cx="19431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Pydantic validation</a:t>
            </a:r>
          </a:p>
          <a:p xmlns:a="http://schemas.openxmlformats.org/drawingml/2006/main">
            <a:pPr algn="ctr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Routing and middleware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83B2D3-1CD0-446E-8CEC-1F0A1E7AE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952750"/>
            <a:ext cx="323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018"/>
          </a:bodyPr>
          <a:lstStyle xmlns:a="http://schemas.openxmlformats.org/drawingml/2006/main"/>
          <a:p xmlns:a="http://schemas.openxmlformats.org/drawingml/2006/main">
            <a:pPr algn="ctr">
              <a:defRPr sz="3900" b="0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3900" b="0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FE17CE-F6A1-4A02-B028-D5E033619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1924050"/>
            <a:ext cx="2667000" cy="29527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8F5F1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858778-E2B4-48B4-8F4D-9FCE4C1C5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152650"/>
            <a:ext cx="228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NLP services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3B189F-261B-4591-A0BE-1FE03F18E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809875"/>
            <a:ext cx="213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777BB3-E6E3-45CD-A2D1-4F055CFF2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000375"/>
            <a:ext cx="22479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Parse and extract</a:t>
            </a:r>
          </a:p>
          <a:p xmlns:a="http://schemas.openxmlformats.org/drawingml/2006/main">
            <a:pPr algn="ctr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Search and summarize</a:t>
            </a:r>
          </a:p>
          <a:p xmlns:a="http://schemas.openxmlformats.org/drawingml/2006/main">
            <a:pPr algn="ctr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Compliance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C48F1A-4AE8-4436-8B45-831A56072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952750"/>
            <a:ext cx="323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018"/>
          </a:bodyPr>
          <a:lstStyle xmlns:a="http://schemas.openxmlformats.org/drawingml/2006/main"/>
          <a:p xmlns:a="http://schemas.openxmlformats.org/drawingml/2006/main">
            <a:pPr algn="ctr">
              <a:defRPr sz="3900" b="0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3900" b="0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40251D-7DE7-4E66-B36D-0484D5512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924050"/>
            <a:ext cx="2514600" cy="295275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FF1D6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6DA40F-0225-4BD8-8F3C-909CD44EF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15265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Data layer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46AFA8-276E-43C8-952E-D4533D6C3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809875"/>
            <a:ext cx="198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8510F9-5A60-46D3-92FA-B080412D9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000375"/>
            <a:ext cx="209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MySQL listings</a:t>
            </a:r>
          </a:p>
          <a:p xmlns:a="http://schemas.openxmlformats.org/drawingml/2006/main">
            <a:pPr algn="ctr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TTL response cache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9BA1AF-CAC9-4232-88D1-9A099288B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27D98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627D98"/>
                </a:solidFill>
                <a:latin typeface="Avenir Next"/>
                <a:ea typeface="Avenir Next"/>
                <a:cs typeface="Avenir Next"/>
              </a:rPr>
              <a:t>The API loads database records at startup and keeps conservative NLP fallbacks available when optional resources fail.</a:t>
            </a:r>
          </a:p>
        </p:txBody>
      </p:sp>
    </p:spTree>
    <p:extLst>
      <p:ext uri="{BB962C8B-B14F-4D97-AF65-F5344CB8AC3E}">
        <p14:creationId xmlns:p14="http://schemas.microsoft.com/office/powerpoint/2010/main" val="172548046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F20076-F146-4EDF-B7AF-0C99AE128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API surface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CF96B6-C5C5-4C00-B411-F0397A7EE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9575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099B74-5A44-437E-AEC3-7C7828CBF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B46554-00EE-495D-9192-07917B13F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8112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POST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BA0507-9CF8-4B01-83E4-4265B4B05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36207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/search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8CE14A-025D-4F99-8348-5714DB7E8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362075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Natural language retrieval with optional inline documents and structured filters.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BB9073-8F46-4AEC-888B-3654869E6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990725"/>
            <a:ext cx="9763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2FF3D4-D3AF-4B0C-8C30-CD8B7CEF9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5742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POST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A166E8-27E9-44DD-BA37-13590C468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23837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/parse-query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0D3D7F-F24E-4C80-A8A5-1B8283508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238375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Filters plus optional SQL and bound parameters.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7A03F1-B9A7-4BEB-822F-D57C9CE42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867025"/>
            <a:ext cx="9763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E71552-709B-48A1-A191-7819B02EF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3372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POST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5E3C55-45C1-43AD-BE31-328FF6E2A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11467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/extract-entities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F84EB2-37FF-421D-A988-7DCBEC624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114675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Bedrooms, bathrooms, price, square footage, and taxonomy terms.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1AFABC-E26E-44E5-80A0-C896F555A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743325"/>
            <a:ext cx="9763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23C47B-252B-4F4A-876D-2E00856BF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1002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POST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83B05B-921F-4D46-8003-E5BE9912C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9097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/summarize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AECCA3-385E-49A5-A26A-2D6754C26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990975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Extractive summary with sentence and character limits.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13E5CF-DFCD-48BE-B6BC-96468ABAE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19625"/>
            <a:ext cx="9763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CA941E-5728-4884-9260-060DADDE6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8632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POST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98E7D2-B2F8-47A9-8658-EFFDBB4D1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6727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/check-compliance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4B7534-B098-4088-B9C5-1047A5F05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867275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Separate listing and query modes with evidence.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5D7E1D-A5F5-4E52-AD65-34803D40C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293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7D98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627D98"/>
                </a:solidFill>
                <a:latin typeface="Avenir Next"/>
                <a:ea typeface="Avenir Next"/>
                <a:cs typeface="Avenir Next"/>
              </a:rPr>
              <a:t>Operations routes add readiness, health, cache statistics, cache clearing, document replacement, and database reload.</a:t>
            </a:r>
          </a:p>
        </p:txBody>
      </p:sp>
    </p:spTree>
    <p:extLst>
      <p:ext uri="{BB962C8B-B14F-4D97-AF65-F5344CB8AC3E}">
        <p14:creationId xmlns:p14="http://schemas.microsoft.com/office/powerpoint/2010/main" val="90259791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5DE09B-310F-4224-A68B-16D5FF008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Evaluation framework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785095-EAD5-4C29-995B-611088339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9575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EC4B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2EC4B6"/>
                </a:solidFill>
                <a:latin typeface="Avenir Next"/>
                <a:ea typeface="Avenir Next"/>
                <a:cs typeface="Avenir Next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74F3FF-AD6B-4C24-9797-6BA87DA4E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66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AA9469-43A1-467B-A3DE-60B16FECB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EC4B6"/>
                </a:solidFill>
                <a:latin typeface="Avenir Next"/>
                <a:ea typeface="Avenir Next"/>
                <a:cs typeface="Avenir Next"/>
              </a:defRPr>
            </a:pPr>
            <a:r>
              <a:rPr sz="2100" b="1">
                <a:solidFill>
                  <a:srgbClr val="2EC4B6"/>
                </a:solidFill>
                <a:latin typeface="Avenir Next"/>
                <a:ea typeface="Avenir Next"/>
                <a:cs typeface="Avenir Next"/>
              </a:rPr>
              <a:t>Accuracy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AF4ECC-79DF-406E-87B9-3ACE71B02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5265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C4B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C6B72D-F9BA-41BA-BF66-9F33A657F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00300"/>
            <a:ext cx="30956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Does the component return the expected label or field?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2AB11F-AE8B-49D0-A277-DC506F827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10000"/>
            <a:ext cx="30956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8C8D8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B8C8D8"/>
                </a:solidFill>
                <a:latin typeface="Avenir Next"/>
                <a:ea typeface="Avenir Next"/>
                <a:cs typeface="Avenir Next"/>
              </a:rPr>
              <a:t>Examples: intent accuracy and compliance accuracy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64750F-8475-4254-8B2E-372835944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15240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2B134"/>
                </a:solidFill>
                <a:latin typeface="Avenir Next"/>
                <a:ea typeface="Avenir Next"/>
                <a:cs typeface="Avenir Next"/>
              </a:defRPr>
            </a:pPr>
            <a:r>
              <a:rPr sz="2100" b="1">
                <a:solidFill>
                  <a:srgbClr val="F2B134"/>
                </a:solidFill>
                <a:latin typeface="Avenir Next"/>
                <a:ea typeface="Avenir Next"/>
                <a:cs typeface="Avenir Next"/>
              </a:rPr>
              <a:t>Coverage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A0363E-DEEE-478A-96EF-604CA2F34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15265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2B13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3D9CA7-AC61-497B-9B30-EDFDCB581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400300"/>
            <a:ext cx="30956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How often does the component produce a usable result or find a gold label?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A26079-07A8-4F27-BADE-4595EEA79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810000"/>
            <a:ext cx="30956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8C8D8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B8C8D8"/>
                </a:solidFill>
                <a:latin typeface="Avenir Next"/>
                <a:ea typeface="Avenir Next"/>
                <a:cs typeface="Avenir Next"/>
              </a:rPr>
              <a:t>Examples: parser coverage and extraction recall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B7025D-E7AB-472B-ADB0-37E2CE8C7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5240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76F51"/>
                </a:solidFill>
                <a:latin typeface="Avenir Next"/>
                <a:ea typeface="Avenir Next"/>
                <a:cs typeface="Avenir Next"/>
              </a:defRPr>
            </a:pPr>
            <a:r>
              <a:rPr sz="2100" b="1">
                <a:solidFill>
                  <a:srgbClr val="E76F51"/>
                </a:solidFill>
                <a:latin typeface="Avenir Next"/>
                <a:ea typeface="Avenir Next"/>
                <a:cs typeface="Avenir Next"/>
              </a:rPr>
              <a:t>Latency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90A9A2-075B-4141-B410-0C3F93293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5265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76F5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B6B769-1795-40FD-8C8F-90C2012D4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400300"/>
            <a:ext cx="30956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How long does the warm component path take on the local host?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02D831-A208-4621-A551-C3F0DC940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810000"/>
            <a:ext cx="30956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8C8D8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B8C8D8"/>
                </a:solidFill>
                <a:latin typeface="Avenir Next"/>
                <a:ea typeface="Avenir Next"/>
                <a:cs typeface="Avenir Next"/>
              </a:rPr>
              <a:t>Reported as p50 and p95 milliseconds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99D3F7-E21E-4413-9EA9-53964BD93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7212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Labels stay explicit because coverage, recall, F1, and accuracy answer different questions.</a:t>
            </a:r>
          </a:p>
        </p:txBody>
      </p:sp>
    </p:spTree>
    <p:extLst>
      <p:ext uri="{BB962C8B-B14F-4D97-AF65-F5344CB8AC3E}">
        <p14:creationId xmlns:p14="http://schemas.microsoft.com/office/powerpoint/2010/main" val="109498294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31D8E3-6215-4B32-AA98-19879DA21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Component metrics scorecard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E7ADF9-B662-4C25-AF37-B5BD9A60C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9575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8764FB-61C8-496B-874C-36A1AC38B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552450" y="1352550"/>
          <a:ext xmlns:a="http://schemas.openxmlformats.org/drawingml/2006/main" cx="11087100" cy="4286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57375"/>
                <a:gridCol w="3190875"/>
                <a:gridCol w="4048125"/>
                <a:gridCol w="1990725"/>
              </a:tblGrid>
              <a:tr h="71437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Component</a:t>
                      </a:r>
                    </a:p>
                  </a:txBody>
                  <a:tcPr marL="95250" marR="95250" marT="66675" marB="66675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Quality result</a:t>
                      </a:r>
                    </a:p>
                  </a:txBody>
                  <a:tcPr marL="95250" marR="95250" marT="66675" marB="66675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Coverage result</a:t>
                      </a:r>
                    </a:p>
                  </a:txBody>
                  <a:tcPr marL="95250" marR="95250" marT="66675" marB="66675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Warm p50</a:t>
                      </a:r>
                    </a:p>
                  </a:txBody>
                  <a:tcPr marL="95250" marR="95250" marT="66675" marB="66675">
                    <a:solidFill>
                      <a:srgbClr val="102A43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243B53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Search</a:t>
                      </a:r>
                    </a:p>
                  </a:txBody>
                  <a:tcPr marL="95250" marR="95250" marT="66675" marB="66675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B53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Relevance quality not measured</a:t>
                      </a:r>
                    </a:p>
                  </a:txBody>
                  <a:tcPr marL="95250" marR="95250" marT="66675" marB="66675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B53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52,742 records searched</a:t>
                      </a:r>
                    </a:p>
                  </a:txBody>
                  <a:tcPr marL="95250" marR="95250" marT="66675" marB="66675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B53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68.43 ms</a:t>
                      </a:r>
                    </a:p>
                  </a:txBody>
                  <a:tcPr marL="95250" marR="95250" marT="66675" marB="66675">
                    <a:solidFill>
                      <a:srgbClr val="F7F4ED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243B53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Query parsing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B53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Coverage metric only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B53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60/60 queries produced a filter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B53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0.07 ms</a:t>
                      </a:r>
                    </a:p>
                  </a:txBody>
                  <a:tcPr marL="95250" marR="95250" marT="66675" marB="66675"/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243B53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Entity extraction</a:t>
                      </a:r>
                    </a:p>
                  </a:txBody>
                  <a:tcPr marL="95250" marR="95250" marT="66675" marB="66675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B53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Beds and baths F1 100%; price F1 93.6%</a:t>
                      </a:r>
                    </a:p>
                  </a:txBody>
                  <a:tcPr marL="95250" marR="95250" marT="66675" marB="66675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B53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288/300 numeric labels; taxonomy recall 77%</a:t>
                      </a:r>
                    </a:p>
                  </a:txBody>
                  <a:tcPr marL="95250" marR="95250" marT="66675" marB="66675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B53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0.03 ms</a:t>
                      </a:r>
                    </a:p>
                  </a:txBody>
                  <a:tcPr marL="95250" marR="95250" marT="66675" marB="66675">
                    <a:solidFill>
                      <a:srgbClr val="F7F4ED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243B53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Summarization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B53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No labeled quality set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B53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Evaluation coverage not measured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B53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0.18 ms</a:t>
                      </a:r>
                    </a:p>
                  </a:txBody>
                  <a:tcPr marL="95250" marR="95250" marT="66675" marB="66675"/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243B53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Compliance</a:t>
                      </a:r>
                    </a:p>
                  </a:txBody>
                  <a:tcPr marL="95250" marR="95250" marT="66675" marB="66675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B53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Query accuracy 100%; listing accuracy 71.7%</a:t>
                      </a:r>
                    </a:p>
                  </a:txBody>
                  <a:tcPr marL="95250" marR="95250" marT="66675" marB="66675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B53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Recall 100% for queries; 50% for listings</a:t>
                      </a:r>
                    </a:p>
                  </a:txBody>
                  <a:tcPr marL="95250" marR="95250" marT="66675" marB="66675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B53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0.12 ms</a:t>
                      </a:r>
                    </a:p>
                  </a:txBody>
                  <a:tcPr marL="95250" marR="95250" marT="66675" marB="66675">
                    <a:solidFill>
                      <a:srgbClr val="F7F4ED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521381-94BF-4EC3-977B-17545DC63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912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27D98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627D98"/>
                </a:solidFill>
                <a:latin typeface="Avenir Next"/>
                <a:ea typeface="Avenir Next"/>
                <a:cs typeface="Avenir Next"/>
              </a:rPr>
              <a:t>Quality gaps remain visible instead of converting missing evaluations into proxy scores.</a:t>
            </a:r>
          </a:p>
        </p:txBody>
      </p:sp>
    </p:spTree>
    <p:extLst>
      <p:ext uri="{BB962C8B-B14F-4D97-AF65-F5344CB8AC3E}">
        <p14:creationId xmlns:p14="http://schemas.microsoft.com/office/powerpoint/2010/main" val="66504618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E81311-7B62-4420-8BCD-031FF193F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Accuracy and coverage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D28740-259C-42C8-B9BB-9C76EA3A6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9575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D9F0D2-ED34-4766-82D1-6DA04799B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6782D2-8E22-4772-A299-EA5E7D2CA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00150"/>
            <a:ext cx="1476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100%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9E3D1D-8BA3-442F-A2A4-26E4F7983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181100"/>
            <a:ext cx="3667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Intent classification accuracy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B1F22F-EBE2-4CF7-BD58-0EF7FB58D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181100"/>
            <a:ext cx="5000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40 held-out examples after training on 160 labeled queries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7944CA-5A8E-4FE7-A808-4F13498C7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857375"/>
            <a:ext cx="8905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052D73-68F6-4043-BF21-13DB24A92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1476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B134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F2B134"/>
                </a:solidFill>
                <a:latin typeface="Avenir Next"/>
                <a:ea typeface="Avenir Next"/>
                <a:cs typeface="Avenir Next"/>
              </a:rPr>
              <a:t>100%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412E85-81A3-45F0-879E-2E47A301B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095500"/>
            <a:ext cx="3667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Query parser coverage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A02775-0FD2-4B72-BA9C-DB92B2DDE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5000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60 of 60 on-topic queries produced at least one filter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ADB075-DB3E-4F0C-A3FE-C5DF053F1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771775"/>
            <a:ext cx="8905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9500ED-8C40-4D9C-8E58-36F0D1D17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28950"/>
            <a:ext cx="1476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100%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F6C03C-6F12-4349-9C16-72D433003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009900"/>
            <a:ext cx="3667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Bedroom and bathroom F1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3908EB-46A1-4863-97CE-5E6CDF01E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09900"/>
            <a:ext cx="5000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Each entity evaluated on 100 labeled remarks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0769BE-A004-4233-B3DA-1C483FD4A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686175"/>
            <a:ext cx="8905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16B505-35D3-4743-B15E-413226162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43350"/>
            <a:ext cx="1476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B134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F2B134"/>
                </a:solidFill>
                <a:latin typeface="Avenir Next"/>
                <a:ea typeface="Avenir Next"/>
                <a:cs typeface="Avenir Next"/>
              </a:rPr>
              <a:t>93.6%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3BBBBB-6068-4D73-AE0B-D6046E90A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924300"/>
            <a:ext cx="3667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Price extraction F1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2D2F71-D01A-4FD4-B201-64140033B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24300"/>
            <a:ext cx="5000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Precision 100% and recall 88% on 100 labels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E7288E-7655-4BFB-8A83-1B6DFBD0E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600575"/>
            <a:ext cx="8905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C57CBB-C363-483D-A97A-FF78E4905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57750"/>
            <a:ext cx="1476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76F51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E76F51"/>
                </a:solidFill>
                <a:latin typeface="Avenir Next"/>
                <a:ea typeface="Avenir Next"/>
                <a:cs typeface="Avenir Next"/>
              </a:rPr>
              <a:t>77.0%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8DB89B-3B11-4195-B3BE-7C15F25F2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838700"/>
            <a:ext cx="3667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Taxonomy feature recall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302AE5-B538-4310-B455-535F79F9D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838700"/>
            <a:ext cx="5000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191 of 248 gold labels found across 100 listings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68ABB3-537D-4475-A7A5-831BD8CBB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915025"/>
            <a:ext cx="8905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76F51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E76F51"/>
                </a:solidFill>
                <a:latin typeface="Avenir Next"/>
                <a:ea typeface="Avenir Next"/>
                <a:cs typeface="Avenir Next"/>
              </a:rPr>
              <a:t>Parser coverage indicates a nonempty result, not exact filter correctness.</a:t>
            </a:r>
          </a:p>
        </p:txBody>
      </p:sp>
    </p:spTree>
    <p:extLst>
      <p:ext uri="{BB962C8B-B14F-4D97-AF65-F5344CB8AC3E}">
        <p14:creationId xmlns:p14="http://schemas.microsoft.com/office/powerpoint/2010/main" val="191227601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6C471D-0CC9-4855-803F-44459728C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Warm component latency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1B5C6A-112A-4563-8209-780E7B8B5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9575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DB0F2E-15BC-4CEA-B3B2-7FDB21989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F895AF-E364-4AB0-85C5-9D04936D5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Search over 52,742 records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32BF8C-DE3F-44ED-AC03-EA1C4F9CB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1952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360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68.43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9F17FB-3DCB-490F-9D5D-B91111774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1724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A6A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AD26FF-0958-4A82-8E0F-B18E3FEF4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1952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p50 milliseconds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AAD9DD-62C9-472A-B7C1-44300514D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00250"/>
            <a:ext cx="1952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360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76.28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DF9381-1691-49AC-894A-D323A9FEE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781300"/>
            <a:ext cx="1724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A6A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1787A7-66E7-49EB-94CD-F9FFA7784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914650"/>
            <a:ext cx="1952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p95 milliseconds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D9856A-CA2E-430B-BBC9-A19264FBA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48100"/>
            <a:ext cx="438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15 warm runs using the direct service path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9FEDED-A860-40CD-9A39-1FD87C20A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38650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27D98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627D98"/>
                </a:solidFill>
                <a:latin typeface="Avenir Next"/>
                <a:ea typeface="Avenir Next"/>
                <a:cs typeface="Avenir Next"/>
              </a:rPr>
              <a:t>p95 was 11% above the median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405045-F872-4659-8D8E-D7ABFADE4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2573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Other components, p95</a:t>
            </a:r>
          </a:p>
        </p:txBody>
      </p:sp>
      <p:graphicFrame>
        <p:nvGraphicFramePr>
          <p:cNvPr id="29" name="Chart"/>
          <p:cNvGraphicFramePr/>
          <p:nvPr/>
        </p:nvGraphicFramePr>
        <p:xfrm>
          <a:off xmlns:a="http://schemas.openxmlformats.org/drawingml/2006/main" x="6096000" y="1714500"/>
          <a:ext xmlns:a="http://schemas.openxmlformats.org/drawingml/2006/main" cx="542925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7973d4178b54013"/>
          </a:graphicData>
        </a:graphic>
      </p:graphicFrame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37E1C6-7C1D-407D-A937-9EB515546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76875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27D98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627D98"/>
                </a:solidFill>
                <a:latin typeface="Avenir Next"/>
                <a:ea typeface="Avenir Next"/>
                <a:cs typeface="Avenir Next"/>
              </a:rPr>
              <a:t>Warm direct service path. Measurements exclude HTTP transport, cache hits, database startup, and concurrent load.</a:t>
            </a:r>
          </a:p>
        </p:txBody>
      </p:sp>
    </p:spTree>
    <p:extLst>
      <p:ext uri="{BB962C8B-B14F-4D97-AF65-F5344CB8AC3E}">
        <p14:creationId xmlns:p14="http://schemas.microsoft.com/office/powerpoint/2010/main" val="121597471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610F0BB-AE31-455E-89E9-C0950DDE6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Five-minute live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51E276-24AE-458E-9BBF-DA1700D0E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9575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EC4B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2EC4B6"/>
                </a:solidFill>
                <a:latin typeface="Avenir Next"/>
                <a:ea typeface="Avenir Next"/>
                <a:cs typeface="Avenir Next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4953AD-E337-4482-9B8F-2DDF68BB5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66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D100F1-563F-4967-8573-C7A305272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00375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6566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D97AB9-119A-478A-9599-56282CB8B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00350"/>
            <a:ext cx="2286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8E79CB-D5E6-474D-B889-73A49C6CB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381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EC4B6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2EC4B6"/>
                </a:solidFill>
                <a:latin typeface="Avenir Next"/>
                <a:ea typeface="Avenir Next"/>
                <a:cs typeface="Avenir Next"/>
              </a:rPr>
              <a:t>0:00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83C7FA-511B-41AA-8722-428D3C7DA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Readiness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AF926F-20A7-4981-B2D4-15B64C61C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13811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D9E2EC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D9E2EC"/>
                </a:solidFill>
                <a:latin typeface="Avenir Next"/>
                <a:ea typeface="Avenir Next"/>
                <a:cs typeface="Avenir Next"/>
              </a:rPr>
              <a:t>Confirm API and database status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5687D0-DF47-4F62-9A28-98DF550A1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800350"/>
            <a:ext cx="2286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8BDF6E-392A-4F03-B393-C60992278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619250"/>
            <a:ext cx="1381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EC4B6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2EC4B6"/>
                </a:solidFill>
                <a:latin typeface="Avenir Next"/>
                <a:ea typeface="Avenir Next"/>
                <a:cs typeface="Avenir Next"/>
              </a:rPr>
              <a:t>0:30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482C97-D266-4206-B762-012E9134C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143125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Parse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59D648-1AE0-49C5-A251-08FFB0CC4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333750"/>
            <a:ext cx="13811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D9E2EC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D9E2EC"/>
                </a:solidFill>
                <a:latin typeface="Avenir Next"/>
                <a:ea typeface="Avenir Next"/>
                <a:cs typeface="Avenir Next"/>
              </a:rPr>
              <a:t>Inspect filters and safe SQL parameters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3A89CC-6BFD-46DA-99CC-E2E397632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00350"/>
            <a:ext cx="2286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4D922D-D02F-4DF6-8D9B-0C87E5D11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619250"/>
            <a:ext cx="1381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EC4B6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2EC4B6"/>
                </a:solidFill>
                <a:latin typeface="Avenir Next"/>
                <a:ea typeface="Avenir Next"/>
                <a:cs typeface="Avenir Next"/>
              </a:rPr>
              <a:t>1:15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647C57-7F3B-4622-8B3E-4104E5B3E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143125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Search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A49EAF-3B38-4644-B75F-C0557F9B5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333750"/>
            <a:ext cx="13811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D9E2EC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D9E2EC"/>
                </a:solidFill>
                <a:latin typeface="Avenir Next"/>
                <a:ea typeface="Avenir Next"/>
                <a:cs typeface="Avenir Next"/>
              </a:rPr>
              <a:t>Return ranked Irvine listings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2E9C02-32D0-4AA3-8FD8-41DCA1769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800350"/>
            <a:ext cx="2286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31DD71-15D9-4BEE-8731-D5C51E68A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619250"/>
            <a:ext cx="1381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EC4B6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2EC4B6"/>
                </a:solidFill>
                <a:latin typeface="Avenir Next"/>
                <a:ea typeface="Avenir Next"/>
                <a:cs typeface="Avenir Next"/>
              </a:rPr>
              <a:t>2:30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CEB06C-48F0-40EF-9052-36EDA1FED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43125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Enrich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8C437D-38A7-4922-93FC-E64F2A744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333750"/>
            <a:ext cx="13811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D9E2EC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D9E2EC"/>
                </a:solidFill>
                <a:latin typeface="Avenir Next"/>
                <a:ea typeface="Avenir Next"/>
                <a:cs typeface="Avenir Next"/>
              </a:rPr>
              <a:t>Extract entities and summarize a remark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37E7C2-FAB4-470C-AABF-0EE798C3B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800350"/>
            <a:ext cx="2286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9F14B8-B095-4896-88F0-82FF4D064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19250"/>
            <a:ext cx="1381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EC4B6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2EC4B6"/>
                </a:solidFill>
                <a:latin typeface="Avenir Next"/>
                <a:ea typeface="Avenir Next"/>
                <a:cs typeface="Avenir Next"/>
              </a:rPr>
              <a:t>3:45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CB8CF3-7FF7-4790-95CA-82AEA244F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43125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Compliance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315B40-7DA1-44C2-8C47-16536D386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33750"/>
            <a:ext cx="13811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D9E2EC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D9E2EC"/>
                </a:solidFill>
                <a:latin typeface="Avenir Next"/>
                <a:ea typeface="Avenir Next"/>
                <a:cs typeface="Avenir Next"/>
              </a:rPr>
              <a:t>Compare query and listing checks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2AEC2A-0334-42FD-BFEA-1D7D49E83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800350"/>
            <a:ext cx="2286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2B134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FDFF31-67DE-41A8-836E-308829740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1619250"/>
            <a:ext cx="1381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2B134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2B134"/>
                </a:solidFill>
                <a:latin typeface="Avenir Next"/>
                <a:ea typeface="Avenir Next"/>
                <a:cs typeface="Avenir Next"/>
              </a:rPr>
              <a:t>4:40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9720DA6-A170-4CC4-BD71-36E32C2E2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143125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Wrap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57D6718-BE83-4012-86A6-FB71EAF75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333750"/>
            <a:ext cx="13811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D9E2EC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D9E2EC"/>
                </a:solidFill>
                <a:latin typeface="Avenir Next"/>
                <a:ea typeface="Avenir Next"/>
                <a:cs typeface="Avenir Next"/>
              </a:rPr>
              <a:t>Show cache status and key result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379478-3006-4E09-9F9B-93196177F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8162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Demo path: Streamlit for the audience, OpenAPI docs as the fallback interface.</a:t>
            </a:r>
          </a:p>
        </p:txBody>
      </p:sp>
    </p:spTree>
    <p:extLst>
      <p:ext uri="{BB962C8B-B14F-4D97-AF65-F5344CB8AC3E}">
        <p14:creationId xmlns:p14="http://schemas.microsoft.com/office/powerpoint/2010/main" val="97759335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041D5E5-3332-40F1-BC69-2548C66F2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Demo prompts and expected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C439F2-3836-4C5A-9CF5-09C0A1803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9575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C47AF5-6029-4C6C-A621-0B654BAF7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95FF65-61CA-415B-80EA-27D3D0D8B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476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6B4EC0-FF12-47E1-9A15-E3BF72D1D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19BA5A-5656-40D7-AC9B-A8500C6C9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219200"/>
            <a:ext cx="4429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GET /ready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28B403-659B-4FA9-B959-E80221CA0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219200"/>
            <a:ext cx="523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Database status and loaded document count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5407E6-D3D2-4E86-817F-8F4A1D059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876425"/>
            <a:ext cx="9839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EC8715-08E8-40BE-92C6-642DADB0E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476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3B466F-87B3-45D6-8495-4DE50E77B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C6FBF3-4E8C-4D7C-856E-22D00C4F2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152650"/>
            <a:ext cx="4429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3 bed 2 bath under 700k in Irvine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EFC1BE-D082-4622-8E1E-EE92F11D3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152650"/>
            <a:ext cx="523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Price, bedroom, bathroom, and city filters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CEEF7D-1681-4827-812A-0E36936D2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809875"/>
            <a:ext cx="9839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178A56-0B29-43FD-981B-872F9B375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476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17F2D9-5876-480A-8525-4E18AFAB7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97FE2F-EA5F-4986-A020-C23FD2EDF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86100"/>
            <a:ext cx="4429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POST /search with the same query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ED1C1C-50A1-4CD1-852B-AD9133A2F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086100"/>
            <a:ext cx="523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Ranked matches with scores and metadata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4B0501-6AF0-4CD0-B804-C77DE04CE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743325"/>
            <a:ext cx="9839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01D1F2-03CD-4279-8AE7-BE6639DAB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476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4596E3-9987-4058-BD10-DE09C859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D6CFA1-555D-4DD8-8A3A-FAA3DDA86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19550"/>
            <a:ext cx="4429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89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Updated 3 bed, 2 bath home with pool at $695k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112E01-68E3-4B20-8047-BEC1EB11D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019550"/>
            <a:ext cx="523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Entities followed by a two-sentence summary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46EF45-9168-4239-B9D8-09C1AC2B0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676775"/>
            <a:ext cx="9839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59B54B-7F4A-42D8-8FDC-7C7EC5209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476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29A1B5-2634-4FD5-9EBE-F948C9304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B79F81-56E2-4253-810B-52A605A69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53000"/>
            <a:ext cx="4429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Ideal for families with children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7D8840-F482-4271-89BA-CC49FF699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953000"/>
            <a:ext cx="523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Compliance flag, category, severity, and evidence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3C774B2-4974-4D48-9DF0-F76C1A83C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953125"/>
            <a:ext cx="9839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27D98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627D98"/>
                </a:solidFill>
                <a:latin typeface="Avenir Next"/>
                <a:ea typeface="Avenir Next"/>
                <a:cs typeface="Avenir Next"/>
              </a:rPr>
              <a:t>Fallback: use /docs to execute the same requests if the frontend is unavailable.</a:t>
            </a:r>
          </a:p>
        </p:txBody>
      </p:sp>
    </p:spTree>
    <p:extLst>
      <p:ext uri="{BB962C8B-B14F-4D97-AF65-F5344CB8AC3E}">
        <p14:creationId xmlns:p14="http://schemas.microsoft.com/office/powerpoint/2010/main" val="114272497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F61EB7-DE7B-463B-ACB4-F83B2D43F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Deep dive: query parsing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6F35DC-494A-42EF-9085-29777FD7A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9575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40D344-8503-47F8-80F1-0070CAD3F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79E8D2-37E1-4356-9CE1-6EC12C66F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144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Input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FC3C69-AEF9-4A9D-9CD6-59DF3448C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4476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“3 bed 2 bath under 700k in Irvine with a pool”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735A75-1286-4A83-AF7E-DABF1CCBE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295400"/>
            <a:ext cx="0" cy="419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5E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BC4197-CDE4-44E0-B11E-CF97AF380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3144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2B134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F2B134"/>
                </a:solidFill>
                <a:latin typeface="Avenir Next"/>
                <a:ea typeface="Avenir Next"/>
                <a:cs typeface="Avenir Next"/>
              </a:rPr>
              <a:t>Structured output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0B2256-4EA6-479D-8DF3-2581FB70C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669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price_max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738A3B-11B7-4FD1-9B4F-187BFFD7A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669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700000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5AF93B-C181-48DE-9532-B9036D440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33625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EC2CC9-7905-4C1C-8A6D-7A0217B81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48602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bedrooms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61A5F5-24E3-4DBD-8F0C-C969ABA4E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86025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02F7BE-D090-448E-93E6-DA17E47F2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9527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52A723-DD2E-4898-9B8F-595C0F724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051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bathrooms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F67C7E-89FD-4B54-85D9-DAF668753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10515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F919AF-4366-4E82-B6C4-404462DAA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571875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E04219-7BA3-4A7C-A597-5780D3DDC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72427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city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BC59A4-EC3B-4FA6-8286-7E9DE2F6B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724275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Irvine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3C6E2F-10F4-470B-AB15-513D7C2A6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1910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2CE058-77D0-4CD7-B0D5-1D181DC60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3434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amenities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8D5829-50C4-4E12-B7A4-205914673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3434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pool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4361A0-9FDF-4073-92B4-22CA7AF1F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76F51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E76F51"/>
                </a:solidFill>
                <a:latin typeface="Avenir Next"/>
                <a:ea typeface="Avenir Next"/>
                <a:cs typeface="Avenir Next"/>
              </a:rPr>
              <a:t>Challenge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8DDEDA-AEBF-4ABA-AA81-180679E5A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4286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Normalize compact forms such as 700k, distinguish exact room counts from minimums, and keep SQL values parameterized.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AFE450-FAB9-4A46-AB90-BD72B499A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72125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27D98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627D98"/>
                </a:solidFill>
                <a:latin typeface="Avenir Next"/>
                <a:ea typeface="Avenir Next"/>
                <a:cs typeface="Avenir Next"/>
              </a:rPr>
              <a:t>Measured result: 60/60 queries produced a filter. Exact-match correctness still needs a labeled benchmark.</a:t>
            </a:r>
          </a:p>
        </p:txBody>
      </p:sp>
    </p:spTree>
    <p:extLst>
      <p:ext uri="{BB962C8B-B14F-4D97-AF65-F5344CB8AC3E}">
        <p14:creationId xmlns:p14="http://schemas.microsoft.com/office/powerpoint/2010/main" val="158226745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E943DB-F922-462C-BE8B-013A5B3CF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Deep dive: retrieval and caching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5540FF-8ACC-43A0-AB1F-A8B2A1FA5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9575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E2D953-0A2D-4CDB-BF5B-01DFBF0D0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4951FA-4D01-4222-8F78-2A6A31B6F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62125"/>
            <a:ext cx="25717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1D6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1BFF03-8136-4460-87EE-52C829A4E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47875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Database corpus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8F7568-360E-4A8C-A2B9-E5D39508C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95575"/>
            <a:ext cx="2038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7162C3-0BC9-48CE-85AC-729627E5B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05125"/>
            <a:ext cx="21145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52,742 listings in the verified load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2F39DF-DB98-4C9E-9364-BD3595E8A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1762125"/>
            <a:ext cx="25717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DDEFFC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39C4F9-83A9-49F0-A40D-9072F45D7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047875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Metadata gate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EBC0CC-EB34-4F51-8103-98BDF318D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695575"/>
            <a:ext cx="2038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DC8DEE-94E2-418B-BF11-782BE5FF2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905125"/>
            <a:ext cx="21145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Price, rooms, and city remove invalid candidates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CB5D97-F069-466F-94DC-5856E0BA2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762125"/>
            <a:ext cx="25717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E8F5F1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FC8E20-2D0D-4884-8126-F7D188019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47875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Text ranking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038B23-D538-4114-9F11-6ADF86471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695575"/>
            <a:ext cx="2038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0BA95C-BB6A-424C-BBFF-B332810FA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905125"/>
            <a:ext cx="21145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Token cosine similarity orders the remaining remarks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8408B1-6C27-4A41-ABCB-4268C3E60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1762125"/>
            <a:ext cx="25717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E8F1F2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541EBD-7377-408D-80A5-BF501BCF6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047875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TTL cache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006392-B0DA-4855-A50E-C417668B9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2695575"/>
            <a:ext cx="2038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B37C1E-86A0-49DD-8FEB-765589696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905125"/>
            <a:ext cx="21145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Payload hash returns repeat results without recomputation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A14B19-083C-4FF2-96EF-1A5235E6A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863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76F51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E76F51"/>
                </a:solidFill>
                <a:latin typeface="Avenir Next"/>
                <a:ea typeface="Avenir Next"/>
                <a:cs typeface="Avenir Next"/>
              </a:rPr>
              <a:t>Challenge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A60E51-C8F5-48A1-8423-01C169ABD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482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The current ranker scans the corpus, so latency grows with record count. Cache keys include the document version to prevent stale search results after reload.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779B41-EE30-49B6-857E-A261865EB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5312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Local result: 68.43 ms p50 and 76.28 ms p95 over 52,742 generated records.</a:t>
            </a:r>
          </a:p>
        </p:txBody>
      </p:sp>
    </p:spTree>
    <p:extLst>
      <p:ext uri="{BB962C8B-B14F-4D97-AF65-F5344CB8AC3E}">
        <p14:creationId xmlns:p14="http://schemas.microsoft.com/office/powerpoint/2010/main" val="105138285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F76221-9A2E-46FC-B59F-B21EDE5CA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Deep dive: compliance tradeoffs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B8B5EA-A91F-4838-9AFA-64A4F6426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9575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CF8958-C5F4-464D-BBE3-1E86B9EED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B8A8DA-2EC1-44E4-9C19-98DBD81A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81125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Query mode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12B82D-CFD1-4B33-A760-A03DA32CF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38350"/>
            <a:ext cx="428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360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100%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92DEDE-8024-4C61-81B1-9E949BED4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19400"/>
            <a:ext cx="405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A6A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2ACB20-2850-4179-9A11-1AE10AFC9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52750"/>
            <a:ext cx="4286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accuracy on 48 labeled queries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589E0B-0BBE-4B7A-86A0-5C0CC92F5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4286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28 risky and 20 compliant examples were classified correctly.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19F4A7-6225-4714-98D9-FA63E687B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333500"/>
            <a:ext cx="0" cy="428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5E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A24623-AD37-481B-82EF-4DD4D8695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381125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76F51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>
                <a:solidFill>
                  <a:srgbClr val="E76F51"/>
                </a:solidFill>
                <a:latin typeface="Avenir Next"/>
                <a:ea typeface="Avenir Next"/>
                <a:cs typeface="Avenir Next"/>
              </a:rPr>
              <a:t>Listing mode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310623-1754-43F6-986F-B838C7D30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38350"/>
            <a:ext cx="428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E76F51"/>
                </a:solidFill>
                <a:latin typeface="Avenir Next"/>
                <a:ea typeface="Avenir Next"/>
                <a:cs typeface="Avenir Next"/>
              </a:defRPr>
            </a:pPr>
            <a:r>
              <a:rPr sz="3600" b="1">
                <a:solidFill>
                  <a:srgbClr val="E76F51"/>
                </a:solidFill>
                <a:latin typeface="Avenir Next"/>
                <a:ea typeface="Avenir Next"/>
                <a:cs typeface="Avenir Next"/>
              </a:rPr>
              <a:t>71.7%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15B353-0757-4CDD-9E45-2B4DCD7DC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819400"/>
            <a:ext cx="405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76F5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753E9C-4D37-48F5-B584-064FBD498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52750"/>
            <a:ext cx="4286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accuracy on 60 labeled listings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10A839-CC34-43D6-865F-6CDF031EE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714750"/>
            <a:ext cx="4286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Precision remained 100%, but recall fell to 50%. The checker missed paraphrases and indirect protected-class references.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7A0193-2804-4D1E-936A-8E35BD82F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578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Production implication: keep the checker as a review aid until listing recall improves.</a:t>
            </a:r>
          </a:p>
        </p:txBody>
      </p:sp>
    </p:spTree>
    <p:extLst>
      <p:ext uri="{BB962C8B-B14F-4D97-AF65-F5344CB8AC3E}">
        <p14:creationId xmlns:p14="http://schemas.microsoft.com/office/powerpoint/2010/main" val="80392950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D50E65-5FCE-460B-A6EB-F3DD59D67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Production considerations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154300-A4D7-4D90-94B2-C6DD6BE29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9575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6D69FE-32BE-49BB-8133-5EB8008CD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B9B6C5-B95B-480E-A0DC-957F904BF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8587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AE83A0-3E1D-4379-B8A0-CE1D54EC5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26682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Rate limiting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256F27-6454-40B1-973A-80B32BDC6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266825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Sliding one-second window permits 10 requests per second per client IP.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7B6714-85FD-488A-8870-95C5C99BD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895475"/>
            <a:ext cx="9763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311D77-A9C4-42F6-9AFC-A4E6EC75F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6217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2949D1-5A51-4A7B-9943-D42817482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14312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Caching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8B35C2-96B0-450C-933D-431D85EF9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143125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Bounded TTL cache reduces repeat NLP work; Redis is needed for multiple workers.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8FCBBE-AD48-4087-85F8-39D17363F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71775"/>
            <a:ext cx="9763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11E6D8-39DA-45E6-92E6-08C27C5D7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3847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A72416-39E9-4B18-B2EF-B597F02B7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1942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Database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597E48-6E72-4836-8690-F64FA68DD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019425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Startup autoload and readiness state expose connection failures without hiding them.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796AD2-C327-4038-B52A-6F4051528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648075"/>
            <a:ext cx="9763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B5D958-088E-4BBB-915B-D97D7DE82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1477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539E7C-7F4C-43F0-9A80-573F9575D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89572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Observability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2830B0-174B-4A33-80C8-A05D58258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895725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Structured request logs include method, path, status, duration, client IP, and request ID.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6D4D59-730F-4C67-AC75-F9FBAE460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24375"/>
            <a:ext cx="9763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C6748A-C9CF-45A9-AE85-D46E0BB0F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9107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B86140-9494-4663-8290-0649EF2F4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7202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Failure handling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2C85B0-FE98-4CEA-9F71-78B5D8BA0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772025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Thread-pool execution keeps slow NLP work off the event loop; fallbacks preserve basic service.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D53839-A0C8-4649-A530-027313B15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876925"/>
            <a:ext cx="971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27D98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627D98"/>
                </a:solidFill>
                <a:latin typeface="Avenir Next"/>
                <a:ea typeface="Avenir Next"/>
                <a:cs typeface="Avenir Next"/>
              </a:rPr>
              <a:t>Credentials remain in environment variables, and the Docker image runs as a non-root user.</a:t>
            </a:r>
          </a:p>
        </p:txBody>
      </p:sp>
    </p:spTree>
    <p:extLst>
      <p:ext uri="{BB962C8B-B14F-4D97-AF65-F5344CB8AC3E}">
        <p14:creationId xmlns:p14="http://schemas.microsoft.com/office/powerpoint/2010/main" val="78597951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46F907-1360-489E-BFEC-254C1375B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Project learnings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526E16-A180-4FFF-BB11-4CDEB6605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9575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EC4B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2EC4B6"/>
                </a:solidFill>
                <a:latin typeface="Avenir Next"/>
                <a:ea typeface="Avenir Next"/>
                <a:cs typeface="Avenir Next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95C032-C9EB-4010-91D5-53870B0DD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66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BC6399-C3A7-488C-ABB0-B64C67026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335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EC4B6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2EC4B6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7E2B2D-C661-49D2-A965-BDC755F21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31445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Metric definitions matter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A68AB2-E1B6-400E-8E76-23589C647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314450"/>
            <a:ext cx="571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9E2EC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D9E2EC"/>
                </a:solidFill>
                <a:latin typeface="Avenir Next"/>
                <a:ea typeface="Avenir Next"/>
                <a:cs typeface="Avenir Next"/>
              </a:rPr>
              <a:t>A 100% parser result measured nonempty output, not exact filter correctness.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3844C1-ED38-46B2-86C7-425EF94B0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066925"/>
            <a:ext cx="962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66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61C52B-F9B4-4288-8076-78A381181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2B134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F2B134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CD0807-CB83-44D4-82B8-4CB8F66D5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4384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Structured filters improve trust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F0ACF7-B1AD-4578-AAC0-419816F71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438400"/>
            <a:ext cx="571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9E2EC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D9E2EC"/>
                </a:solidFill>
                <a:latin typeface="Avenir Next"/>
                <a:ea typeface="Avenir Next"/>
                <a:cs typeface="Avenir Next"/>
              </a:rPr>
              <a:t>Showing extracted constraints makes search behavior easier to inspect and debug.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E25F88-8A08-4028-95F2-AC002EC73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190875"/>
            <a:ext cx="962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66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9E673D-DA82-4B63-8643-37D3D26CC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814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EC4B6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2EC4B6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E40C5D-12E9-4282-9674-FEB62E724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56235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098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Rules perform unevenly by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3D7F67-5C05-4BCB-B3D7-478DBA07B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562350"/>
            <a:ext cx="571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9E2EC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D9E2EC"/>
                </a:solidFill>
                <a:latin typeface="Avenir Next"/>
                <a:ea typeface="Avenir Next"/>
                <a:cs typeface="Avenir Next"/>
              </a:rPr>
              <a:t>Compliance queries were easy for the rules, while nuanced listing language reduced recall.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A445DE-590F-4ED5-B8E1-7B09B1FCD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314825"/>
            <a:ext cx="962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66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7E4C7B-E70C-415A-89FD-4CEDF27B7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0535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2B134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F2B134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C11AA9-2C7E-474C-91E7-4E58ED865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6863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2524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Operational behavior belongs in the API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94A7D8-AD4A-4D0C-A9EF-A177DABBA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686300"/>
            <a:ext cx="571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9E2EC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D9E2EC"/>
                </a:solidFill>
                <a:latin typeface="Avenir Next"/>
                <a:ea typeface="Avenir Next"/>
                <a:cs typeface="Avenir Next"/>
              </a:rPr>
              <a:t>Readiness, cache visibility, rate limits, and request IDs support real deployment work.</a:t>
            </a:r>
          </a:p>
        </p:txBody>
      </p:sp>
    </p:spTree>
    <p:extLst>
      <p:ext uri="{BB962C8B-B14F-4D97-AF65-F5344CB8AC3E}">
        <p14:creationId xmlns:p14="http://schemas.microsoft.com/office/powerpoint/2010/main" val="49122706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49DE00-7760-4764-BE7F-05361FEF2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Future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8E3BBB-40F0-4BFA-8F3B-BDE52133C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9575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9B9A3E-5A60-4CEB-BC35-2A03932AA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77F57E-9A6A-4E5F-95D3-74F22D8B1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573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Near term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2B9CF4-8348-4DB0-BB83-FE31C476B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476375"/>
            <a:ext cx="52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A6A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56FF52-B800-4C6B-BA58-02CAFB5D7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228725"/>
            <a:ext cx="771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Add an exact-match parser benchmark and labeled summarization evaluation.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E1E162-96CC-4352-A8CF-119B4DB76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0275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2B134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F2B134"/>
                </a:solidFill>
                <a:latin typeface="Avenir Next"/>
                <a:ea typeface="Avenir Next"/>
                <a:cs typeface="Avenir Next"/>
              </a:rPr>
              <a:t>Retrieval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F81A51-A31E-479E-ACB8-6653EED83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419350"/>
            <a:ext cx="52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2B13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294D69-0E27-43F5-8103-4AA596036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71700"/>
            <a:ext cx="771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Connect FAISS semantic retrieval to the database corpus and report precision at k.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A8E9BF-CFFF-4F43-A4C4-32983119F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76F51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E76F51"/>
                </a:solidFill>
                <a:latin typeface="Avenir Next"/>
                <a:ea typeface="Avenir Next"/>
                <a:cs typeface="Avenir Next"/>
              </a:rPr>
              <a:t>Compliance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B6B327-B0F3-4C25-9366-D4432F1DA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362325"/>
            <a:ext cx="52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76F5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FBDA30-C8AF-45AF-93B4-191153E53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114675"/>
            <a:ext cx="771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Expand indirect language patterns, then retest listing recall without sacrificing precision.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223FCD-0C8A-427F-9A68-BA9338FCB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86225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Scale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1F4B66-0575-46FF-B338-14AFCEF7B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305300"/>
            <a:ext cx="52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A6A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EB10F8-9323-4D50-8C31-0F9DA068C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57650"/>
            <a:ext cx="771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Move cache and rate-limit state to Redis and load test multiple API workers.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CCE778-0BE1-46A8-BC5E-74304324A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292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2B134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F2B134"/>
                </a:solidFill>
                <a:latin typeface="Avenir Next"/>
                <a:ea typeface="Avenir Next"/>
                <a:cs typeface="Avenir Next"/>
              </a:rPr>
              <a:t>Security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838F0E-2F98-498A-82BC-F031118FA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248275"/>
            <a:ext cx="52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2B134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2D0EBB-D9C8-4A57-B477-FC9B521B9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000625"/>
            <a:ext cx="771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Add authentication for document reload and cache administration routes.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5F772F-F091-4D25-92BE-B0309400E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53125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Highest-value next measurement: end-to-end search relevance on real user queries.</a:t>
            </a:r>
          </a:p>
        </p:txBody>
      </p:sp>
    </p:spTree>
    <p:extLst>
      <p:ext uri="{BB962C8B-B14F-4D97-AF65-F5344CB8AC3E}">
        <p14:creationId xmlns:p14="http://schemas.microsoft.com/office/powerpoint/2010/main" val="187649933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D9434B-B172-4D6D-9049-CF3C69F5E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Technical Q&amp;A preparation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D2FE8E-70FD-4D90-8C56-EFD00A310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9575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DA3630-1002-4D18-B607-C26B49FEA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286329-6BB4-4849-8961-CC931BE87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381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Why rules instead of an LLM?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8E6DE3-883B-4399-827A-EF7878E1A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171575"/>
            <a:ext cx="666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Rules provide deterministic behavior, low latency, and visible evidence. They also establish a baseline for later model comparison.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59564C-2779-45AD-90D0-966E20CD7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0696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D58933-B11E-4CEA-AD48-7245EC586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381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What limits search quality?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E0DF98-03BC-43DA-B497-8175BA667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162175"/>
            <a:ext cx="666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The API currently uses token similarity after metadata filtering. A labeled relevance set and semantic index are the next steps.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BCB3FF-5D8D-4EDF-9550-20E44952E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10696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9A9C2D-1503-4091-AC77-C30820C20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381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Why is compliance listing recall low?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31B458-0A72-4BA9-9DBE-FA8AB61BB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152775"/>
            <a:ext cx="666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Listings use indirect and contextual language that exact patterns miss. The test found 17 false negatives and no false positives.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F9B761-4EAE-4A17-BF4F-B682297B2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10696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AAEA28-A8D3-4690-A5C2-92FA0BCF4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381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Will the rate limit work with multiple workers?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20CEB9-AF26-424D-BDC6-D07DABDCF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143375"/>
            <a:ext cx="666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Each worker has local state today. Redis or an API gateway should enforce a shared production limit.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08ED1B-F240-4091-84E6-EAEDD4A3E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10696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E290B2-C39C-4277-A8DD-D032DFD4F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381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How do you prevent stale cached search results?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32AF87-24C8-44F6-8361-55EF4F8A4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5133975"/>
            <a:ext cx="666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The document version forms part of each search cache key, and reload operations clear cached entries.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21F7C5-52DE-4672-BF0B-754F11C32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Closing point: the platform demonstrates an end-to-end NLP product and makes its current measurement gaps explicit.</a:t>
            </a:r>
          </a:p>
        </p:txBody>
      </p:sp>
    </p:spTree>
    <p:extLst>
      <p:ext uri="{BB962C8B-B14F-4D97-AF65-F5344CB8AC3E}">
        <p14:creationId xmlns:p14="http://schemas.microsoft.com/office/powerpoint/2010/main" val="18262377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2026-09-11T09:14:37.8140000Z</dcterms:created>
  <dcterms:modified xsi:type="dcterms:W3CDTF">2026-09-11T09:14:37.8140000Z</dcterms:modified>
</coreProperties>
</file>