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8053613e584463" /><Relationship Type="http://schemas.openxmlformats.org/officeDocument/2006/relationships/extended-properties" Target="/docProps/app.xml" Id="R1510cc7cde70465b" /><Relationship Type="http://schemas.openxmlformats.org/officeDocument/2006/relationships/officeDocument" Target="/ppt/presentation.xml" Id="R229f6ab512c246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389522767b4664"/>
  </p:sldMasterIdLst>
  <p:notesMasterIdLst>
    <p:notesMasterId xmlns:r="http://schemas.openxmlformats.org/officeDocument/2006/relationships" r:id="R00b8ccf5f45d4f0c"/>
  </p:notesMasterIdLst>
  <p:sldIdLst>
    <p:sldId xmlns:r="http://schemas.openxmlformats.org/officeDocument/2006/relationships" id="256" r:id="R6c20c6cd8db54f64"/>
    <p:sldId xmlns:r="http://schemas.openxmlformats.org/officeDocument/2006/relationships" id="257" r:id="R2f41fd46dcf243c1"/>
    <p:sldId xmlns:r="http://schemas.openxmlformats.org/officeDocument/2006/relationships" id="258" r:id="Rf3c7ffa700f8409c"/>
    <p:sldId xmlns:r="http://schemas.openxmlformats.org/officeDocument/2006/relationships" id="259" r:id="R1675ec5603a8488f"/>
    <p:sldId xmlns:r="http://schemas.openxmlformats.org/officeDocument/2006/relationships" id="260" r:id="Rd401580561394747"/>
    <p:sldId xmlns:r="http://schemas.openxmlformats.org/officeDocument/2006/relationships" id="261" r:id="R93a98a3f2ab740e8"/>
    <p:sldId xmlns:r="http://schemas.openxmlformats.org/officeDocument/2006/relationships" id="262" r:id="R9ba5907692754aae"/>
    <p:sldId xmlns:r="http://schemas.openxmlformats.org/officeDocument/2006/relationships" id="263" r:id="Rf731811484e648db"/>
    <p:sldId xmlns:r="http://schemas.openxmlformats.org/officeDocument/2006/relationships" id="264" r:id="R9ad035cbbf364c4c"/>
    <p:sldId xmlns:r="http://schemas.openxmlformats.org/officeDocument/2006/relationships" id="265" r:id="Rdd00488f297d41b9"/>
    <p:sldId xmlns:r="http://schemas.openxmlformats.org/officeDocument/2006/relationships" id="266" r:id="Rcbe1697c79564162"/>
    <p:sldId xmlns:r="http://schemas.openxmlformats.org/officeDocument/2006/relationships" id="267" r:id="R5d571d8d956d42a7"/>
    <p:sldId xmlns:r="http://schemas.openxmlformats.org/officeDocument/2006/relationships" id="268" r:id="R343eaae30b8d4435"/>
    <p:sldId xmlns:r="http://schemas.openxmlformats.org/officeDocument/2006/relationships" id="269" r:id="Rdada3d86e5a14911"/>
    <p:sldId xmlns:r="http://schemas.openxmlformats.org/officeDocument/2006/relationships" id="270" r:id="R54d55233fe374feb"/>
    <p:sldId xmlns:r="http://schemas.openxmlformats.org/officeDocument/2006/relationships" id="271" r:id="Rcab66842063d4527"/>
    <p:sldId xmlns:r="http://schemas.openxmlformats.org/officeDocument/2006/relationships" id="272" r:id="R045ea5b2f0464076"/>
    <p:sldId xmlns:r="http://schemas.openxmlformats.org/officeDocument/2006/relationships" id="273" r:id="R1c829e4651254e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7ccf0e8f724581" /><Relationship Type="http://schemas.openxmlformats.org/officeDocument/2006/relationships/slideMaster" Target="/ppt/slideMasters/slideMaster1.xml" Id="Rc9389522767b4664" /><Relationship Type="http://schemas.openxmlformats.org/officeDocument/2006/relationships/notesMaster" Target="/ppt/notesMasters/notesMaster1.xml" Id="R00b8ccf5f45d4f0c" /><Relationship Type="http://schemas.openxmlformats.org/officeDocument/2006/relationships/presProps" Target="/ppt/presProps.xml" Id="Rcc256388da874f59" /><Relationship Type="http://schemas.openxmlformats.org/officeDocument/2006/relationships/tableStyles" Target="/ppt/tableStyles.xml" Id="R6fd82d3ec3cc42f1" /><Relationship Type="http://schemas.openxmlformats.org/officeDocument/2006/relationships/slide" Target="/ppt/slides/slide1.xml" Id="R6c20c6cd8db54f64" /><Relationship Type="http://schemas.openxmlformats.org/officeDocument/2006/relationships/slide" Target="/ppt/slides/slide2.xml" Id="R2f41fd46dcf243c1" /><Relationship Type="http://schemas.openxmlformats.org/officeDocument/2006/relationships/slide" Target="/ppt/slides/slide3.xml" Id="Rf3c7ffa700f8409c" /><Relationship Type="http://schemas.openxmlformats.org/officeDocument/2006/relationships/slide" Target="/ppt/slides/slide4.xml" Id="R1675ec5603a8488f" /><Relationship Type="http://schemas.openxmlformats.org/officeDocument/2006/relationships/slide" Target="/ppt/slides/slide5.xml" Id="Rd401580561394747" /><Relationship Type="http://schemas.openxmlformats.org/officeDocument/2006/relationships/slide" Target="/ppt/slides/slide6.xml" Id="R93a98a3f2ab740e8" /><Relationship Type="http://schemas.openxmlformats.org/officeDocument/2006/relationships/slide" Target="/ppt/slides/slide7.xml" Id="R9ba5907692754aae" /><Relationship Type="http://schemas.openxmlformats.org/officeDocument/2006/relationships/slide" Target="/ppt/slides/slide8.xml" Id="Rf731811484e648db" /><Relationship Type="http://schemas.openxmlformats.org/officeDocument/2006/relationships/slide" Target="/ppt/slides/slide9.xml" Id="R9ad035cbbf364c4c" /><Relationship Type="http://schemas.openxmlformats.org/officeDocument/2006/relationships/slide" Target="/ppt/slides/slide10.xml" Id="Rdd00488f297d41b9" /><Relationship Type="http://schemas.openxmlformats.org/officeDocument/2006/relationships/slide" Target="/ppt/slides/slide11.xml" Id="Rcbe1697c79564162" /><Relationship Type="http://schemas.openxmlformats.org/officeDocument/2006/relationships/slide" Target="/ppt/slides/slide12.xml" Id="R5d571d8d956d42a7" /><Relationship Type="http://schemas.openxmlformats.org/officeDocument/2006/relationships/slide" Target="/ppt/slides/slide13.xml" Id="R343eaae30b8d4435" /><Relationship Type="http://schemas.openxmlformats.org/officeDocument/2006/relationships/slide" Target="/ppt/slides/slide14.xml" Id="Rdada3d86e5a14911" /><Relationship Type="http://schemas.openxmlformats.org/officeDocument/2006/relationships/slide" Target="/ppt/slides/slide15.xml" Id="R54d55233fe374feb" /><Relationship Type="http://schemas.openxmlformats.org/officeDocument/2006/relationships/slide" Target="/ppt/slides/slide16.xml" Id="Rcab66842063d4527" /><Relationship Type="http://schemas.openxmlformats.org/officeDocument/2006/relationships/slide" Target="/ppt/slides/slide17.xml" Id="R045ea5b2f0464076" /><Relationship Type="http://schemas.openxmlformats.org/officeDocument/2006/relationships/slide" Target="/ppt/slides/slide18.xml" Id="R1c829e4651254e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a3e120bdf44e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297adcd07b48b2" /><Relationship Type="http://schemas.openxmlformats.org/officeDocument/2006/relationships/notesMaster" Target="/ppt/notesMasters/notesMaster1.xml" Id="Re8c35968340447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0ab912f2ea4579" /><Relationship Type="http://schemas.openxmlformats.org/officeDocument/2006/relationships/notesMaster" Target="/ppt/notesMasters/notesMaster1.xml" Id="R93b8ab8fac0241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08bc61de554a69" /><Relationship Type="http://schemas.openxmlformats.org/officeDocument/2006/relationships/notesMaster" Target="/ppt/notesMasters/notesMaster1.xml" Id="Rcec3997ac96f41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d71317ad9a4e41" /><Relationship Type="http://schemas.openxmlformats.org/officeDocument/2006/relationships/notesMaster" Target="/ppt/notesMasters/notesMaster1.xml" Id="R2f7000da7e084b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939ecb85ff4fd6" /><Relationship Type="http://schemas.openxmlformats.org/officeDocument/2006/relationships/notesMaster" Target="/ppt/notesMasters/notesMaster1.xml" Id="R5f46b9a62c1849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42f4479519c4d47" /><Relationship Type="http://schemas.openxmlformats.org/officeDocument/2006/relationships/notesMaster" Target="/ppt/notesMasters/notesMaster1.xml" Id="Rba8832511dee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face2469be4fba" /><Relationship Type="http://schemas.openxmlformats.org/officeDocument/2006/relationships/notesMaster" Target="/ppt/notesMasters/notesMaster1.xml" Id="R8c716c474a6848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4d029a62c44ee2" /><Relationship Type="http://schemas.openxmlformats.org/officeDocument/2006/relationships/notesMaster" Target="/ppt/notesMasters/notesMaster1.xml" Id="R1271b6a2229d4d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86811341b94ebf" /><Relationship Type="http://schemas.openxmlformats.org/officeDocument/2006/relationships/notesMaster" Target="/ppt/notesMasters/notesMaster1.xml" Id="Rfecf118597944d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362f3d1c36437a" /><Relationship Type="http://schemas.openxmlformats.org/officeDocument/2006/relationships/notesMaster" Target="/ppt/notesMasters/notesMaster1.xml" Id="R2e36b8e4948c4b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d57fd36c434609" /><Relationship Type="http://schemas.openxmlformats.org/officeDocument/2006/relationships/notesMaster" Target="/ppt/notesMasters/notesMaster1.xml" Id="R1a814b53e3964d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4e2eae86574cd6" /><Relationship Type="http://schemas.openxmlformats.org/officeDocument/2006/relationships/notesMaster" Target="/ppt/notesMasters/notesMaster1.xml" Id="R5a709aa5c79848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0ee684ed234a22" /><Relationship Type="http://schemas.openxmlformats.org/officeDocument/2006/relationships/notesMaster" Target="/ppt/notesMasters/notesMaster1.xml" Id="R28ea45efad85473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90ec4002f64f5a" /><Relationship Type="http://schemas.openxmlformats.org/officeDocument/2006/relationships/notesMaster" Target="/ppt/notesMasters/notesMaster1.xml" Id="Recca39192a3b42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edff1ee6084743" /><Relationship Type="http://schemas.openxmlformats.org/officeDocument/2006/relationships/notesMaster" Target="/ppt/notesMasters/notesMaster1.xml" Id="R24e8582dff014b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853ccdf035485c" /><Relationship Type="http://schemas.openxmlformats.org/officeDocument/2006/relationships/notesMaster" Target="/ppt/notesMasters/notesMaster1.xml" Id="R9d8f43e4e4c94f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f532a931e94dd4" /><Relationship Type="http://schemas.openxmlformats.org/officeDocument/2006/relationships/notesMaster" Target="/ppt/notesMasters/notesMaster1.xml" Id="Rd273356e1f734a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cfe0a4b51d4fb8" /><Relationship Type="http://schemas.openxmlformats.org/officeDocument/2006/relationships/notesMaster" Target="/ppt/notesMasters/notesMaster1.xml" Id="R373a96b710454d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This presentation covers the problem, system design, measured results, live demo, technical challenges, production considerations, and lessons learned.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framing based on scripts/main.py, scripts/query_parser.py, scripts/entity_extractor.py, and scripts/compliance_checker.py.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uses deterministic parsing and extraction, database-backed retrieval, extractive summarization, and rule-based compliance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scripts/main.py lifespan, NLPServices, middleware, and route definitions; scripts/frontend/search.py.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scripts/main.py. OpenAPI documentation is generated automatically at /docs and /redoc.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Latency method: warm local component runtime on an Apple Silicon host. Search used 52,742 generated records. Measurements exclude network transport and database startup.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accuracy tests rerun September 11, 2026; compliance evaluation datasets; local benchmark in .codex-presentation-build/benchmark_components.py.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tests/test_week7.py, tests/test_week4.py, tests/test_numericf1.py, and data/processed/taxonomy_eval_results.csv. The structured field preservation test also scored 4,000/4,000 but does not test free text extraction.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Benchmark runs: search 15; parse 100; entities 100; summary 100; compliance 100. Search p50/p95 68.43/76.28 ms. Parse 0.07/0.07. Entities 0.03/0.03. Summary 0.18/0.36. Compliance 0.12/0.22.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timing: 30 seconds readiness, 45 seconds parsing, 75 seconds search, 75 seconds enrichment, 55 seconds compliance, 20 seconds wrap. Keep /docs open as backup if Streamlit fails.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presenting: start the API, confirm /ready, open the Streamlit search page, preload the query, and keep /docs open. Avoid typing long JSON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scripts/query_parser.py and scripts/main.py. Explain that to_sql returns placeholders and parameters instead of concatenating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search, cached_compute, TTLCache, replace_documents, and documents_version. Future semantic search should preserve the metadata-first filter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Compliance evaluation rerun September 11, 2026. Query confusion matrix: TP 28, FP 0, FN 0, TN 20. Listing matrix: TP 17, FP 0, FN 17, TN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scripts/main.py settings, middleware, lifespan, cached_compute, and readiness route; Docker configuration reviewed in the project root.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technical work to engineering judgment: define metrics precisely, preserve explainability, and measure known weaknesses.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Prioritize measurement gaps before expanding model complexity. Search relevance and summarization quality currently lack labeled benchmarks.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Additional questions to prepare for: database schema mapping, cache invalidation, CORS configuration, input limits, SQL injection protection, and how to build a human-reviewed compliance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2b5ccc63b43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79b38e7e87468f" /><Relationship Type="http://schemas.openxmlformats.org/officeDocument/2006/relationships/slideLayout" Target="/ppt/slideLayouts/slideLayout1.xml" Id="R44821524a23b43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821524a23b43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5c9400a4749c1" /><Relationship Type="http://schemas.openxmlformats.org/officeDocument/2006/relationships/notesSlide" Target="/ppt/notesSlides/notesSlide1.xml" Id="Rb3a55703532943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9d09661e24475" /><Relationship Type="http://schemas.openxmlformats.org/officeDocument/2006/relationships/notesSlide" Target="/ppt/notesSlides/notesSlide2.xml" Id="R0e8259fdee9e4d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a75eddec044d9" /><Relationship Type="http://schemas.openxmlformats.org/officeDocument/2006/relationships/notesSlide" Target="/ppt/notesSlides/notesSlide3.xml" Id="Rf73f9389cb6340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e5acac37a43a6" /><Relationship Type="http://schemas.openxmlformats.org/officeDocument/2006/relationships/notesSlide" Target="/ppt/notesSlides/notesSlide4.xml" Id="R04e0674c157a43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a5ee697ea448f" /><Relationship Type="http://schemas.openxmlformats.org/officeDocument/2006/relationships/notesSlide" Target="/ppt/notesSlides/notesSlide5.xml" Id="R6312fc1d40084e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65cd628e744aa" /><Relationship Type="http://schemas.openxmlformats.org/officeDocument/2006/relationships/notesSlide" Target="/ppt/notesSlides/notesSlide6.xml" Id="R8cf44fef929742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c68bcbe064d97" /><Relationship Type="http://schemas.openxmlformats.org/officeDocument/2006/relationships/notesSlide" Target="/ppt/notesSlides/notesSlide7.xml" Id="Rd1d777d0204c4d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0b29cc3124280" /><Relationship Type="http://schemas.openxmlformats.org/officeDocument/2006/relationships/notesSlide" Target="/ppt/notesSlides/notesSlide8.xml" Id="Rdad809be23eb46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0834341564f55" /><Relationship Type="http://schemas.openxmlformats.org/officeDocument/2006/relationships/chart" Target="/ppt/slides/charts/chart1.xml" Id="R8c34385c034c465e" /><Relationship Type="http://schemas.openxmlformats.org/officeDocument/2006/relationships/chart" Target="/ppt/slides/charts/chart2.xml" Id="R6767c07a9dc74225" /><Relationship Type="http://schemas.openxmlformats.org/officeDocument/2006/relationships/notesSlide" Target="/ppt/notesSlides/notesSlide9.xml" Id="R93941bb51ff240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00d9ccee547c9" /><Relationship Type="http://schemas.openxmlformats.org/officeDocument/2006/relationships/notesSlide" Target="/ppt/notesSlides/notesSlide10.xml" Id="Recf8655a889747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70ee46fdd426e" /><Relationship Type="http://schemas.openxmlformats.org/officeDocument/2006/relationships/notesSlide" Target="/ppt/notesSlides/notesSlide11.xml" Id="Rca25c8a4a3fc4b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39eccb6d748ce" /><Relationship Type="http://schemas.openxmlformats.org/officeDocument/2006/relationships/notesSlide" Target="/ppt/notesSlides/notesSlide12.xml" Id="Rf04b15b6e9794e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f54ae18954c58" /><Relationship Type="http://schemas.openxmlformats.org/officeDocument/2006/relationships/notesSlide" Target="/ppt/notesSlides/notesSlide13.xml" Id="Raa237782050643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aaefb54544ea2" /><Relationship Type="http://schemas.openxmlformats.org/officeDocument/2006/relationships/notesSlide" Target="/ppt/notesSlides/notesSlide14.xml" Id="R4f5885bedf0147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9ad1887aa436a" /><Relationship Type="http://schemas.openxmlformats.org/officeDocument/2006/relationships/notesSlide" Target="/ppt/notesSlides/notesSlide15.xml" Id="R0c4bdff1bfa047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691c41b3e48ed" /><Relationship Type="http://schemas.openxmlformats.org/officeDocument/2006/relationships/notesSlide" Target="/ppt/notesSlides/notesSlide16.xml" Id="Ra158ba3461f644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1f29b2c6f4043" /><Relationship Type="http://schemas.openxmlformats.org/officeDocument/2006/relationships/notesSlide" Target="/ppt/notesSlides/notesSlide17.xml" Id="Rcd66c3dab8a14c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9458543b6434a" /><Relationship Type="http://schemas.openxmlformats.org/officeDocument/2006/relationships/notesSlide" Target="/ppt/notesSlides/notesSlide18.xml" Id="R310b4511ded9459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Data'!$A$2:$A$3</c:f>
              <c:strCache>
                <c:ptCount val="2"/>
                <c:pt idx="0">
                  <c:v>p50</c:v>
                </c:pt>
                <c:pt idx="1">
                  <c:v>p95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68.43</c:v>
                </c:pt>
                <c:pt idx="1">
                  <c:v>76.28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Milliseconds</c:v>
          </c:tx>
          <c:spPr>
            <a:solidFill xmlns:a="http://schemas.openxmlformats.org/drawingml/2006/main">
              <a:srgbClr val="F2B134"/>
            </a:solidFill>
          </c:spPr>
          <c:cat>
            <c:strRef>
              <c:f>'Chart Data'!$A$2:$A$5</c:f>
              <c:strCache>
                <c:ptCount val="4"/>
                <c:pt idx="0">
                  <c:v>Parse</c:v>
                </c:pt>
                <c:pt idx="1">
                  <c:v>Entities</c:v>
                </c:pt>
                <c:pt idx="2">
                  <c:v>Summary</c:v>
                </c:pt>
                <c:pt idx="3">
                  <c:v>Compliance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0.07</c:v>
                </c:pt>
                <c:pt idx="1">
                  <c:v>0.03</c:v>
                </c:pt>
                <c:pt idx="2">
                  <c:v>0.36</c:v>
                </c:pt>
                <c:pt idx="3">
                  <c:v>0.22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02A43"/>
                  </a:solidFill>
                  <a:latin typeface="Avenir Next"/>
                  <a:ea typeface="Avenir Next"/>
                  <a:cs typeface="Avenir Nex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E1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448C87-E48F-4491-888C-F5F004DC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"/>
            <a:ext cx="4191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defRPr>
            </a:pPr>
            <a:r>
              <a:rPr sz="11250" b="1">
                <a:solidFill>
                  <a:srgbClr val="183B56"/>
                </a:solidFill>
                <a:latin typeface="Avenir Next"/>
                <a:ea typeface="Avenir Next"/>
                <a:cs typeface="Avenir Next"/>
              </a:rPr>
              <a:t>NLP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72420-8A96-4704-BF3B-7A045EC1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BE211-C6FC-441D-B1A5-7256D2C0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40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Real Estate NLP 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0A9F2-23F9-440F-8B0C-0F8A9EDE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Technical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A2C4F-7FB8-4A04-BC41-4636CFE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Natural language search, structured extraction, summarization, and fair housing compliance through a production FastAPI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AA227-6DE5-46C9-B8E7-3985E539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FB3C8"/>
                </a:solidFill>
                <a:latin typeface="Avenir Next"/>
                <a:ea typeface="Avenir Next"/>
                <a:cs typeface="Avenir Next"/>
              </a:rPr>
              <a:t>NLP Internship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3439464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AE75AC-8396-4F2E-B5BE-044E3F02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The search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29FE01-FD88-4D50-AE22-A68A2DD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CA33B-36E8-4AE1-B9F3-C23F92BB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ABA30-CA81-476C-A7ED-467ED5C8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57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Real estate intent arrives as free text, while listing systems store structured fields and long remarks.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2AB9B-41B0-4866-90D3-B825284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Natural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608FF-2775-4E3F-A237-9A67835B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44C17-88D3-4DBF-936C-64FEF768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Users mix location, price, rooms, amenities, and exclusions in one sentence.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7404A-82FF-47DD-8EB7-AB482506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Fragmented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DF4D7-2793-4751-9CBC-01988EAF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84056-5123-49D0-A023-A621C58C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Useful facts appear across database columns and inconsistent listing remarks.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B9A8A-80C1-45AE-8E1C-F6F2B2AC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3FA7D-C187-454E-8F0B-E267011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BAFF1E-2C5A-4A7B-AD31-2DC11D1A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listing language can reference protected classes or exclusionary preferences.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D1FC2-DF2D-499A-82FF-55DEAF25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Goal: return useful property results while preserving explainable filters and visible safety checks.</a:t>
            </a:r>
          </a:p>
        </p:txBody>
      </p:sp>
    </p:spTree>
    <p:extLst>
      <p:ext uri="{BB962C8B-B14F-4D97-AF65-F5344CB8AC3E}">
        <p14:creationId xmlns:p14="http://schemas.microsoft.com/office/powerpoint/2010/main" val="10902502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242A84-64EE-4506-A319-7A89E985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Solution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93E6B-F265-4BD4-BC8C-DE719C4C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E34E0-9528-4330-B5CE-3A569D96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E2621-29BA-4934-89CD-944DE964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D105E-46AC-487C-B3BB-2D0AD2F5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226D7A-CF7C-47EC-ADFC-FE839C21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A8629-1F9D-42A4-957C-4C2E60FD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2AEE1-61CF-4614-8AB7-2D1EF321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Convert the query into price, room, location, amenity, and exclusion filters.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71D68-E22F-47DB-A46C-DE565206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987C7-4FA0-4CF8-8800-069DFA2A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CE492-CF27-4264-AF03-61B2BE43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Retrieve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E2C308-C4DC-4E1A-BADB-DAB34918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908CC-630B-4698-AD0E-13DA56E7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Apply metadata filters first, then rank matching remarks by token similarity.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2A6EF-671C-424D-8AE5-A74CCC9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EE9761-BE9B-4072-A4DD-A63D1457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70430-4243-49B8-A315-4CF2215D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A6F7C-0F77-4087-A2EC-EED21EA6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77FC4B-06DE-4E8F-861A-9768FB2C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 listing entities and select informative sentences for summaries.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54E28-F16A-456C-BCFF-C7012FA7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2533650" cy="33337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F558CA-3729-4677-9272-5096311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924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91CE3-26FB-4D9A-8D8A-2A901B7C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18859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8AFF3F-DAF6-419E-A8F9-FA6A149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19375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12860F-20E8-4A6D-BBE8-B96F326A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8575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Check listing or query text for fair housing risks and return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B0276-323A-42C0-BFB3-7E0DD098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FastAPI exposes the same pipeline to the Streamlit interface, OpenAPI clients, and operations tooling.</a:t>
            </a:r>
          </a:p>
        </p:txBody>
      </p:sp>
    </p:spTree>
    <p:extLst>
      <p:ext uri="{BB962C8B-B14F-4D97-AF65-F5344CB8AC3E}">
        <p14:creationId xmlns:p14="http://schemas.microsoft.com/office/powerpoint/2010/main" val="51297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58C377-0E57-4515-A442-49D04BD9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59AFA-9305-4B8B-9B45-47E9AB54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17B5E-471F-4FD2-AA74-891F2EA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4C0A28-4FBA-4F05-877C-1A7E5B3A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143125" cy="295275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4E747-0863-4726-BE3E-ED361DA4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762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7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User 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1A6E4-CE4C-4CBB-A536-E9A8B5C1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1609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0BCEE-F790-492F-8CE7-5C190E2E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7240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Streamlit search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OpenAPI documentation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21038-A974-4EC6-94BE-F4CED954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616761-2191-4C2D-9FC2-892151DE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24050"/>
            <a:ext cx="236220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94821-DE71-4737-AD23-F80634DA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FastAPI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CD579E-04B8-4D92-B611-FF8CF828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9875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CEEBD-57E3-46B4-95CF-C3CDB107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19431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Pydantic validation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Routing and middleware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5C8CE-B52A-4ED2-90ED-FBE1A271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B8B54A-D6FE-4E58-9AEF-9778E6E0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924050"/>
            <a:ext cx="2667000" cy="2952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C88B50-5574-4A71-B3D1-05345742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1526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NLP services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38FE0-48DC-4AFB-A1BC-13C38DEA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09875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C51E2-EBC8-4D39-A90D-F0C0B58E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000375"/>
            <a:ext cx="2247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Parse and extract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Search and summarize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FE58C6-2E3E-4590-A039-036CE4C0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32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018"/>
          </a:bodyPr>
          <a:lstStyle xmlns:a="http://schemas.openxmlformats.org/drawingml/2006/main"/>
          <a:p xmlns:a="http://schemas.openxmlformats.org/drawingml/2006/main">
            <a:pPr algn="ctr">
              <a:def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900" b="0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059287-6930-4871-A51A-21AB2D02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14600" cy="2952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75A66-878E-4363-8AAF-04F15BDB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52650"/>
            <a:ext cx="2133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70B49-D6BC-4A58-A8D2-866B4F96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9875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EBD677-A5BF-42E3-8A38-01DF5A65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00375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MySQL listings</a:t>
            </a:r>
          </a:p>
          <a:p xmlns:a="http://schemas.openxmlformats.org/drawingml/2006/main">
            <a:pPr algn="ctr">
              <a:def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TTL response 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01BF91-CE3C-4D9B-B611-C5E2DFA3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The API loads database records at startup and keeps conservative NLP fallbacks available when optional resources fail.</a:t>
            </a:r>
          </a:p>
        </p:txBody>
      </p:sp>
    </p:spTree>
    <p:extLst>
      <p:ext uri="{BB962C8B-B14F-4D97-AF65-F5344CB8AC3E}">
        <p14:creationId xmlns:p14="http://schemas.microsoft.com/office/powerpoint/2010/main" val="1328686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D9A4D-4F8A-4CFC-AE03-84FB9053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API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91B97-81B6-4A55-9EE2-8D1B305B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638F96-5C11-4F52-85EF-BD0AF0FF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2F9A4-96B7-4C80-84F9-B9EC7622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6654D-9014-4D36-9486-6BBC827E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620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244FA-9496-4734-B63C-6BF1187D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620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Natural language retrieval with optional inline documents and structured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31EC8-059C-439D-84D0-B26A6305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907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BA9E7-0BC2-44C2-B975-6B854462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8A3DC-58D2-4F38-A50B-6EE04097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383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/parse-query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2BA150-A997-4E36-9749-E1F95A9A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38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Filters plus optional SQL and bound parameters.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A2F8F-B5F9-4CB5-BBF3-DC2AF57E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81EFD-30EE-4745-811A-614969E0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03B42-FE2F-4E87-8DDA-18036D81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146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/extract-entities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CFF31D-B285-49E3-BBDF-84FC5254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146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Bedrooms, bathrooms, price, square footage, and taxonomy terms.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F6186-5324-4857-B695-65E038D6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433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51523-D79F-485D-8A41-02FB2624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00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839F4-1824-4483-9FDA-C3133E3F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909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/summarize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56346-CA42-43A3-962B-B5922E2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909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Extractive summary with sentence and character limits.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EA286-9EDC-4324-BB25-D8C26DA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1962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1F4129-2297-4018-821B-4833A018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8632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POST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2FBA5-8A69-456C-A25A-9413F4F9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6727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/check-compliance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2DC42D-A7DF-4B24-BA9A-C3F79027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672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Separate listing and query modes with evidence.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24E42-6402-4AFA-AD1B-EF1C818A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Operations routes add readiness, health, cache statistics, cache clearing, document replacement, and database reload.</a:t>
            </a:r>
          </a:p>
        </p:txBody>
      </p:sp>
    </p:spTree>
    <p:extLst>
      <p:ext uri="{BB962C8B-B14F-4D97-AF65-F5344CB8AC3E}">
        <p14:creationId xmlns:p14="http://schemas.microsoft.com/office/powerpoint/2010/main" val="1436686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0458FA-913C-4EEE-BF39-0100FFED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Evaluation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984E8-86F2-4B50-A03D-48E054E8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235AB-62C9-4016-A8CF-51FDE357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7A86C-25A1-4954-9DE8-E645B56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ECB15-2091-4CFB-8D79-6BBBB51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C4B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7787F-CF90-46B3-9377-C88F12B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Does the component return the expected label or field?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8F5DF-42A5-4B37-AA23-5BBEE7C6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intent accuracy and compliance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0E816-F04D-4436-806B-5236404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54B03-BCFB-430C-9FA6-BB07C478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41A02-AED9-43FF-9A97-0BD6AC89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often does the component produce a usable result or find a gold label?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ECB9D-4EAB-4B89-8B28-56BF9E2F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Examples: parser coverage and extraction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19E04-7BF7-4BC5-B4F0-2DC9D871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240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2485A-7490-4B0B-B9D5-1B2FF23F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78057-9000-4154-A6F9-8CB69C7F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00300"/>
            <a:ext cx="3095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How long does the warm component path take on the local host?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45ED7-97DE-459C-B481-62B5FF49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10000"/>
            <a:ext cx="309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8C8D8"/>
                </a:solidFill>
                <a:latin typeface="Avenir Next"/>
                <a:ea typeface="Avenir Next"/>
                <a:cs typeface="Avenir Next"/>
              </a:rPr>
              <a:t>Reported as p50 and p95 milliseconds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959A8-2ED9-4873-8578-2EDBA25B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Labels stay explicit because coverage, recall, F1, and accuracy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6160605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1B46A-4FCF-4107-A5BA-DB1B083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Component metrics scorecard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3D750-3810-408B-A2A4-9467BEA9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464EA-B119-4F90-BB7F-21F85C07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52450" y="1352550"/>
          <a:ext xmlns:a="http://schemas.openxmlformats.org/drawingml/2006/main" cx="110871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3190875"/>
                <a:gridCol w="4048125"/>
                <a:gridCol w="1990725"/>
              </a:tblGrid>
              <a:tr h="714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Component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Quality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result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Warm p50</a:t>
                      </a:r>
                    </a:p>
                  </a:txBody>
                  <a:tcPr marL="95250" marR="95250" marT="66675" marB="66675">
                    <a:solidFill>
                      <a:srgbClr val="10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Search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Relevance quality not measured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52,742 records searched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68.43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parsing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Coverage metric only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60/60 queries produced a filter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0.07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Entity extraction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Beds and baths F1 100%; price F1 93.6%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288/300 numeric labels; taxonomy recall 77%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0.03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Summarization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No labeled quality set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Evaluation coverage not measured</a:t>
                      </a:r>
                    </a:p>
                  </a:txBody>
                  <a:tcPr marL="95250" marR="95250" marT="66675" marB="666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0.18 ms</a:t>
                      </a:r>
                    </a:p>
                  </a:txBody>
                  <a:tcPr marL="95250" marR="95250" marT="66675" marB="66675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Compliance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Query accuracy 100%; listing accuracy 71.7%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Recall 100% for queries; 50% for listings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43B53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0.12 ms</a:t>
                      </a:r>
                    </a:p>
                  </a:txBody>
                  <a:tcPr marL="95250" marR="95250" marT="66675" marB="66675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787AC-EEC8-4EA2-94E8-28688C31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91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Quality gaps remain visible instead of converting missing evaluations into proxy scores.</a:t>
            </a:r>
          </a:p>
        </p:txBody>
      </p:sp>
    </p:spTree>
    <p:extLst>
      <p:ext uri="{BB962C8B-B14F-4D97-AF65-F5344CB8AC3E}">
        <p14:creationId xmlns:p14="http://schemas.microsoft.com/office/powerpoint/2010/main" val="423312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6A06B-A5F0-4574-AE97-CDF290BF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Accuracy and coverage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84E16-C162-4A00-9C06-F72386C4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B577B-7D50-4A9C-A169-9E5E8B27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11C97-A781-4643-8C06-808D0C84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12B11-5D2C-488D-9B58-21E4A72A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811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Intent classification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B27293-9FB1-4668-8CE3-DF7901D7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811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40 held-out examples after training on 160 labeled 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DB189-0D22-41ED-869A-52FA1D2D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573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80196-D872-43F8-9EC2-95F77FAE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534A4-6C23-485D-9FCC-B8D7CFDD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Query parser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20435-2AC0-4F15-9065-FD94BA8A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60 of 60 on-topic queries produced at least one 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3AB32-B273-437C-BFD2-1B7F4DB7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17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4A862-8304-41D0-B019-4A88CB57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C150B-32F9-4E73-BF8E-B4B8A5C5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099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 and bathroom F1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EE2BB-E56D-4033-8A0C-45261CF0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99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entity evaluated on 100 labeled remarks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6C9C3-5133-4088-B72B-5F0AEB24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861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A6A10-09DD-42B1-B48D-66B7DB7D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93.6%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D3862-E9AF-43C4-89A8-A1CC81A3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243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 extraction F1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4D707-EF20-45F2-8958-0ADD8D5B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243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100% and recall 88% on 100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42962-C7B5-4F42-8F6E-BF16A6E7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00575"/>
            <a:ext cx="8905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6EE63-2CA5-4F2B-9B0F-52B51B19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476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77.0%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F62A02-A36B-409F-9CEE-4DFBE52E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38700"/>
            <a:ext cx="3667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Taxonomy feature recall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08CF57-B66B-40DC-9455-90E186D3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000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191 of 248 gold labels found across 100 listings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3AD59-C3C3-4935-9913-50F82341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15025"/>
            <a:ext cx="8905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Parser coverage indicates a nonempty result, not exact filter correctness.</a:t>
            </a:r>
          </a:p>
        </p:txBody>
      </p:sp>
    </p:spTree>
    <p:extLst>
      <p:ext uri="{BB962C8B-B14F-4D97-AF65-F5344CB8AC3E}">
        <p14:creationId xmlns:p14="http://schemas.microsoft.com/office/powerpoint/2010/main" val="1389651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94D96-3806-41CE-9243-C0B9ADEC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Warm component latency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4FA99-B72D-4458-BBCE-96D3B5F1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3C7FD-2A06-4481-AC75-1805FFE84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92DC5-99D7-42E3-B193-D53DC699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Search over 52,742 records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28650" y="1714500"/>
          <a:ext xmlns:a="http://schemas.openxmlformats.org/drawingml/2006/main" cx="4762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34385c034c465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66814-F9A3-466D-A43E-7E3748ED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573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Other components, p95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0" y="171450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67c07a9dc74225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320D37-0170-4644-9991-9E49DF00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Warm direct service path. Measurements exclude HTTP transport, cache hits, database startup, and concurrent load.</a:t>
            </a:r>
          </a:p>
        </p:txBody>
      </p:sp>
    </p:spTree>
    <p:extLst>
      <p:ext uri="{BB962C8B-B14F-4D97-AF65-F5344CB8AC3E}">
        <p14:creationId xmlns:p14="http://schemas.microsoft.com/office/powerpoint/2010/main" val="9419473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2D29BC-8170-49A1-A704-04D7AA49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Five-minute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8A8FF-0342-45CA-882F-F77B8F78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B18297-75FE-4DAE-BA68-AF49BD6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A5FE3-FBD1-4EAC-AAFB-EBA14FAE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03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6566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AE034-CA6D-4D38-96A7-C6AE3C00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4C2842-943C-41DC-9315-9971F07C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A5C26-C8D0-4EC3-AC51-6BD75960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Readiness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C1BFE-BF1A-4B43-806C-CED36879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Confirm API and database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FD3C3E-EAEB-455D-85C4-52FB1909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1EB69-BBA8-447A-87BE-832BCAD4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0FA1B-93FB-4C26-844E-93352FC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06AFA2-1EB4-4E07-AC2E-318DD4C8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Inspect filters and safe SQL parameters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4F9FE6-9EA9-4D32-B495-12BFED00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A6FDB-44AF-4C51-A53A-E380BD2E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1:15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5DBAF-0BEC-419E-BAEF-164291BE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Search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E9D7AE-FF80-4E81-9FDA-5CC73FDC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Return ranked Irvine listings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4070B-A3EC-4E78-91DE-7C4C3A23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660228-D647-4671-BC91-BDED498F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2:30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1A7D5-FE9D-40CB-9239-CFF8DDE2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Enrich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8E749-54C7-43FF-9CD7-6B413892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Extract entities and summarize a remark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3EC7BB-B490-4687-8A76-9E3B5E3F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48A83-F5E5-4DF1-8D35-288DD8AB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3:45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11994-15B4-453E-AE72-9A4DE5AE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B4B69-2214-4A3A-A3B9-30271E85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Compare query and listing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9E30A-6D52-4E1D-9C81-99D62078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00350"/>
            <a:ext cx="2286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A1D735-CEF2-4665-89AE-0D887F3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6192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4:40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7E5E8-3364-4ADB-9360-672F3AB2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9E266B-88CC-44C8-8A4A-A0676291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333750"/>
            <a:ext cx="1381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 cache status and key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281E8E-135B-4C69-AECA-33321A95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Demo path: Streamlit for the audience, OpenAPI docs as the fallback interface.</a:t>
            </a:r>
          </a:p>
        </p:txBody>
      </p:sp>
    </p:spTree>
    <p:extLst>
      <p:ext uri="{BB962C8B-B14F-4D97-AF65-F5344CB8AC3E}">
        <p14:creationId xmlns:p14="http://schemas.microsoft.com/office/powerpoint/2010/main" val="16107238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1BB5D8-2816-4196-BC3B-9A83003B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Demo prompts and expected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00F9BF-011E-4B79-A2A6-8CC6FF9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F1549-DCD4-44CC-9830-0D9403DD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82F4F-601A-43CA-B025-2BE6F5CA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F5E207-52E1-47AF-B11D-56335642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7DA1C9-5146-496C-9AD7-2CDA1A57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75CBF-2440-412B-B739-384E6AF1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2192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GET /ready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82B5F-3014-4560-A317-B8B0669E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2192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Database status and loaded document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B9A0E-7218-44DD-9452-1C7C1212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8764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3E4C4-283E-4243-B27D-C9B9738F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EE3AFD-62CE-49BB-8084-E182C50A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B4958-C485-4A75-A414-A2714C24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E5AF6-AF5B-499A-9587-F02C10A8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526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3 bed 2 bath under 700k in Irvine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1CDF6-6BA4-4D0D-98E4-9D14EC53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526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bedroom, bathroom, and city filters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1F345-C7A9-4296-AEF2-613F99F1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98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3A268-C0E6-4FE9-B559-A3703437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17B37-AA27-4488-809A-1350C71D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04B8E-A438-4EEF-B9A9-B5ED152B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9A95BC-E3E5-4FB8-99B8-2F14E607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POST /search with the same query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BFDF3-E58E-4674-9893-8502A7DA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861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Ranked matches with scores and metadata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768E3-D37C-42DD-A95F-26686134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4332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156403-7D1A-407E-8C58-5E4D096C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0A58D-FD5F-4768-A158-037AFE4B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52CAF0-D3F5-4B0F-BF4C-6FCB83BA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88578-129E-479E-B556-54EFB47E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1955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Updated 3 bed, 2 bath home with pool at $695k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9CD043-116B-48D0-AEDB-3893852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1955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Entities followed by a two-sentence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90CD09-493C-4A0E-A91C-4644C0EB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983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7E0F1-7BE2-4905-BE5C-B51756F2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720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8BD86-49F6-48B2-93D2-C72427AC8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9D6517-586C-459B-ADEB-41E5D2B9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7D7B51-1964-4AEE-9E7A-4DB5B8B4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4429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Ideal for families with children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F52A1-0616-4F86-AA59-6D5F3704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53000"/>
            <a:ext cx="523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Compliance flag, category, severity, and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4EF04A-CBF0-49C6-B1FE-74B22636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53125"/>
            <a:ext cx="983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Fallback: use /docs to execute the same requests if the frontend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9011670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52D41-CA7E-4089-889A-8E692C2E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query parsing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E79E6-50AC-429F-9EB2-54321B7A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7E68F-7A64-4887-BDF3-DBD0B769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68679-1D95-44A7-8AA5-9746A1C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90E07-F61E-44E3-9A98-5287D957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4476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“3 bed 2 bath under 700k in Irvine with a pool”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C3972-12C4-42B6-868D-9152D3E5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295400"/>
            <a:ext cx="0" cy="419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80E31-AA8A-475C-A2CA-77FC9F6B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14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Structured 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DA331-AB44-4D9C-BF8D-1C33785F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price_max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518D0-3FAE-4B34-80AE-10FB21E8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669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700000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90BEE-EE2C-421A-9C48-59C06281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FEB39-CD17-4B89-BBD6-4228853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860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bedrooms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A3253-0739-4636-B978-E2777D0E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8602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28184-BA49-41D5-8F1F-7D1711B8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27898-FF55-4372-ABBE-23A9544C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bathrooms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91486-7C5A-4F2F-B305-B965DC9F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83D3A-45FA-4B44-91D5-F23213D6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7B7D87-CBFF-4B91-A681-8B32312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242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79201D-7D60-4473-A03F-47E7ADAA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24275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Irvine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A0B7F-3F11-401D-8CA3-C3A84C35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910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0CAA3-984A-4D12-A917-442CFD63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43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amenities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C0CE7-E624-4E33-A8C0-21EAEA56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pool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34D75A-D3A6-470F-8786-D340A7EA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08677-C641-429D-895C-FA033EBE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428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Normalize compact forms such as 700k, distinguish exact room counts from minimums, and keep SQL values parameterized.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EEFA21-A354-43C8-AD3A-990279E4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Measured result: 60/60 queries produced a filter. Exact-match correctness still needs a labeled benchmark.</a:t>
            </a:r>
          </a:p>
        </p:txBody>
      </p:sp>
    </p:spTree>
    <p:extLst>
      <p:ext uri="{BB962C8B-B14F-4D97-AF65-F5344CB8AC3E}">
        <p14:creationId xmlns:p14="http://schemas.microsoft.com/office/powerpoint/2010/main" val="5263666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454CC-F4EE-4933-9680-E3304C79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retrieval and caching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514F6-83CB-4E34-AA73-B2D9C3FA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DEED2-B69B-4EE6-933A-9057EFB6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569B4-375F-467B-B743-7A731423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2E5E5-2FE2-4694-9096-91E2FDF7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 corpus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E4D84-BBE6-4F74-820F-DF44F9DB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F56C3-E888-4405-AA38-58CD2F7D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52,742 listings in the verified 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D299C-7407-4751-A7D7-54696635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DDEFFC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6464F-30D5-433C-A8C2-A4DBE74C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Metadata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B34D0-4760-4BCE-A4DB-3C0B3FDB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0B764-BC13-48BA-BBE1-6A1CB883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Price, rooms, and city remove invalid candidates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12B57-74EE-4AE7-9B66-85C22B50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5F1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EE270-914A-449C-A8A4-D1819C8D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Text 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86E26-9516-4460-8C1A-589A9F1E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87AEF-73C3-4572-8878-DB58A2D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Token cosine similarity orders the remaining remarks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EA81D-FC06-4990-B4B0-5C3FDEB1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62125"/>
            <a:ext cx="2571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8F1F2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316C46-1857-436E-BDDB-D19CB1DA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047875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TTL 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BCBF06-9432-4587-B86E-2C64EBE3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95575"/>
            <a:ext cx="2038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53CCF-4A4F-4943-8A44-B299AA5A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905125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Payload hash returns repeat results without recomputation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1C8B26-B458-461D-84F7-A796CB91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85224-2515-4C34-9228-CF1B5A3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current ranker scans the corpus, so latency grows with record count. Cache keys include the document version to prevent stale search results after reload.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DAB61-E2B7-476B-9DB9-808EBA04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531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Local result: 68.43 ms p50 and 76.28 ms p95 over 52,742 generated records.</a:t>
            </a:r>
          </a:p>
        </p:txBody>
      </p:sp>
    </p:spTree>
    <p:extLst>
      <p:ext uri="{BB962C8B-B14F-4D97-AF65-F5344CB8AC3E}">
        <p14:creationId xmlns:p14="http://schemas.microsoft.com/office/powerpoint/2010/main" val="7902586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E5534D-4C44-4546-B817-1203E522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Deep dive: compliance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3D336-0722-4196-B2CF-F83C551E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2025F9-442C-404E-83E8-3B8E1EB2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F6654-6E71-4B8E-BDDE-44BDC72A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Query mode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63D62-7090-4B55-9214-4CC9A6C2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100%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E89E3-1C87-4DC8-92AB-6A7B6768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6A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3E466-6496-4D0D-87B7-3EC2C220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48 labeled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2DD4F-27BF-44CC-9847-47B11DF6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28 risky and 20 compliant examples were classified correctly.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D2069-F11D-4B89-A484-B959FB36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3350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C156F-5519-48B4-80AC-089E0966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38112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Listing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55BD1-FEF3-4907-A660-07A2F404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383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71.7%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8B29C-FB6A-45BD-ADBC-88FE34A6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194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09D15-C383-4B71-8CAF-0DBA6DA0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accuracy on 60 labeled listings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DC6D8-5BCC-420A-9FE3-37AE2B29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1475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Precision remained 100%, but recall fell to 50%. The checker missed paraphrases and indirect protected-class 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68076-0CA5-4372-AB01-B20F006C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implication: keep the checker as a review aid until listing recall improves.</a:t>
            </a:r>
          </a:p>
        </p:txBody>
      </p:sp>
    </p:spTree>
    <p:extLst>
      <p:ext uri="{BB962C8B-B14F-4D97-AF65-F5344CB8AC3E}">
        <p14:creationId xmlns:p14="http://schemas.microsoft.com/office/powerpoint/2010/main" val="3388219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54CC7-0D81-4B68-95E1-4AA36B9F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Production considerations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D697C-479C-4874-8922-884DE1B7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4A65F-0829-4C78-8E8D-4C2AD1ED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2DC52-2E4C-4333-898F-BEDF5F0B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85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3EAD0-512B-4BBE-819F-684E3D06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2668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Rate limiting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35E89-E70C-472F-85C6-8EF3AD62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668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Sliding one-second window permits 10 requests per second per client IP.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491C7-534B-480D-8985-2A82920A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954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60BAB1-8968-40FC-B3DB-1F072CA9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3CA05-A4E2-49A1-A60B-072412C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431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Caching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F526E-B9F2-42A5-9867-0C81C237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Bounded TTL cache reduces repeat NLP work; Redis is needed for multiple workers.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3BBFC-32CF-4E32-932F-0BF8697C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717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B4E4F-0DB6-426F-B347-974FDCB3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655FB-C9D3-4C49-A1F3-AD6203E4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194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1EEBA-547B-493F-97D9-8D121632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194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Startup autoload and readiness state expose connection failures without hiding them.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335FC-797D-4829-BF37-4D517CE5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480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6AEDD-5090-46B4-98FA-F272339A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14FB8A-20C2-479D-A6B9-B66B1CAAA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957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Observability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CC6C8-7504-4EC7-B055-62A003DA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957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Structured request logs include method, path, status, duration, client IP, and request 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2DBF8-CE87-4ABA-84B6-C9B262F4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76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272C2-4C08-49EE-9DBA-1A8E8D5B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3DBBC8-AC40-4A22-B29D-E03E4CB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720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Failure handling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3DFF4-2D40-4913-9884-E5FD2558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720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Thread-pool execution keeps slow NLP work off the event loop; fallbacks preserve basic service.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F7DA4-EDA9-46F5-9E4D-48E79FC1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769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627D98"/>
                </a:solidFill>
                <a:latin typeface="Avenir Next"/>
                <a:ea typeface="Avenir Next"/>
                <a:cs typeface="Avenir Next"/>
              </a:rPr>
              <a:t>Credentials remain in environment variables, and the Docker image runs as a non-root user.</a:t>
            </a:r>
          </a:p>
        </p:txBody>
      </p:sp>
    </p:spTree>
    <p:extLst>
      <p:ext uri="{BB962C8B-B14F-4D97-AF65-F5344CB8AC3E}">
        <p14:creationId xmlns:p14="http://schemas.microsoft.com/office/powerpoint/2010/main" val="11651379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48FA7-58A5-43E1-AE08-ABE2C168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Project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8ED0B-8A9F-4348-B652-BBFF7FF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44D72-1DDF-49ED-82D3-25AA871A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B6861-5FB7-4AD1-A66E-7D399E5B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C518D-CFE3-4932-8BE1-BBC70119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3144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Metric definitions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425A1-4978-41E9-ACA5-E9FFD0E2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3144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A 100% parser result measured nonempty output, not exact filter correctness.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A8813-7BD6-4B95-9ABC-8E8D9009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669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0CA55C-A4DD-4762-9E74-AD9E2775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A3694-9CED-4732-908C-44C77F8E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384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Structured filters improve 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47582-383A-4DBC-AD79-6189F95D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384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Showing extracted constraints makes search behavior easier to inspect and debug.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45431-4245-458D-B1FC-947E0233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908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3B609-3D7F-4400-A975-48E8CA58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2EC4B6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AAA5D-882E-4C42-BD5C-6B1466A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09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Rules perform unevenly by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C85FF-2EA6-40E5-9170-AF9A897A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5623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Compliance queries were easy for the rules, while nuanced listing language reduced recall.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BB6CE-5EC6-43D0-97E8-874C3C34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148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6566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6F307-329C-425B-AB09-1FB46865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88C52-265F-4EEC-ADA8-B87E9CE3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863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24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Operational behavior belongs in the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C30B11-80DC-4CC1-9AF1-B748DAF2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8630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2EC"/>
                </a:solidFill>
                <a:latin typeface="Avenir Next"/>
                <a:ea typeface="Avenir Next"/>
                <a:cs typeface="Avenir Next"/>
              </a:rPr>
              <a:t>Readiness, cache visibility, rate limits, and request IDs support real deployment work.</a:t>
            </a:r>
          </a:p>
        </p:txBody>
      </p:sp>
    </p:spTree>
    <p:extLst>
      <p:ext uri="{BB962C8B-B14F-4D97-AF65-F5344CB8AC3E}">
        <p14:creationId xmlns:p14="http://schemas.microsoft.com/office/powerpoint/2010/main" val="922728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81198-82DE-4D44-A75C-2A7BC2B8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7345B-D907-421A-B779-EF177CCA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4FE9A-0053-4943-98F4-EA1092E1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F9852-0589-4396-81A6-8452A97D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Near 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0342A-2574-431C-B6E0-D48618C8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763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214F7-0246-40EE-AFE1-E6C17A0F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287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an exact-match parser benchmark and labeled summarization evaluation.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8D4C8-B44E-4F06-A2F3-F5A89E3A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Retrieval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4B562-A996-45B1-9505-E6E6F13A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1935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4588-CFFF-40B1-AD05-8B1E73C2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7170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Connect FAISS semantic retrieval to the database corpus and report precision at 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BD7D7-C519-4CFB-87F3-90F71F82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E76F51"/>
                </a:solidFill>
                <a:latin typeface="Avenir Next"/>
                <a:ea typeface="Avenir Next"/>
                <a:cs typeface="Avenir Next"/>
              </a:rPr>
              <a:t>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594016-8B8A-4945-BA53-ED423635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623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DD289-FB3B-420C-83A7-4064211C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Expand indirect language patterns, then retest listing recall without sacrificing precision.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3DA1F-F4B1-48F2-B009-B1931646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4C72F-94AE-4FEC-B5FB-D1E455BA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05300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A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A71F75-899D-475C-8DCD-411DFB24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Move cache and rate-limit state to Redis and load test multiple API workers.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AC7A49-29D1-4482-81BD-5FC81629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2B134"/>
                </a:solidFill>
                <a:latin typeface="Avenir Next"/>
                <a:ea typeface="Avenir Next"/>
                <a:cs typeface="Avenir Next"/>
              </a:rPr>
              <a:t>Security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C4E36-ED67-4477-A075-4AC13B4F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4827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13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E7AAF-8059-4EE1-85C5-82C5FA01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00625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Add authentication for document reload and cache administration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67620C-4EE1-401A-AFC9-70CBB5F6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Highest-value next measurement: end-to-end search relevance on real user queries.</a:t>
            </a:r>
          </a:p>
        </p:txBody>
      </p:sp>
    </p:spTree>
    <p:extLst>
      <p:ext uri="{BB962C8B-B14F-4D97-AF65-F5344CB8AC3E}">
        <p14:creationId xmlns:p14="http://schemas.microsoft.com/office/powerpoint/2010/main" val="16505465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0D5ADF-EE15-4CFF-AA67-BEB700E0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Technical Q&amp;A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CE38E-2028-4477-99A7-D576BB2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09575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CB6D6-CF41-4C90-BDF0-5E1B621B2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D03BB-FD7D-444F-BD11-346ED237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rules instead of an LLM?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F1304-EE94-4883-8BA6-7811126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1715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Rules provide deterministic behavior, low latency, and visible evidence. They also establish a baseline for later model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906D9-63BA-4C67-BD55-F460FF17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76F80-4C7D-4E2A-8060-DB73F336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What limits search quality?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1C699-C458-49B5-9D33-8F690639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621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API currently uses token similarity after metadata filtering. A labeled relevance set and semantic index are the next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A227D-593E-4241-918A-6258F527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081E0-5C58-4776-876C-01806658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Why is compliance listing recall low?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86810-5BA7-4EC8-967F-7D8C0156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527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Listings use indirect and contextual language that exact patterns miss. The test found 17 false negatives and no false positives.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E49DE-14BF-43B9-A172-64C19FAE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B5163-00CF-4617-AFD2-F54BA3D6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Will the rate limit work with multiple workers?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116B7-4111-4ECC-BEE3-DED2EADF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433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Each worker has local state today. Redis or an API gateway should enforce a shared production limit.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8002BE-AE71-4582-ADC0-70FB48C2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696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5567F-343B-4AAF-BF0A-AE8C1E4A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02A43"/>
                </a:solidFill>
                <a:latin typeface="Avenir Next"/>
                <a:ea typeface="Avenir Next"/>
                <a:cs typeface="Avenir Next"/>
              </a:rPr>
              <a:t>How do you prevent stale cached search results?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CA3F87-AE94-4E0E-B3AC-2E8D944E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13397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43B53"/>
                </a:solidFill>
                <a:latin typeface="Avenir Next"/>
                <a:ea typeface="Avenir Next"/>
                <a:cs typeface="Avenir Next"/>
              </a:rPr>
              <a:t>The document version forms part of each search cache key, and reload operations clear cached entries.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82DFB-CEEB-4E4A-A5EB-78300B40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0A6A6"/>
                </a:solidFill>
                <a:latin typeface="Avenir Next"/>
                <a:ea typeface="Avenir Next"/>
                <a:cs typeface="Avenir Next"/>
              </a:rPr>
              <a:t>Closing point: the platform demonstrates an end-to-end NLP product and makes its current measurement gaps explicit.</a:t>
            </a:r>
          </a:p>
        </p:txBody>
      </p:sp>
    </p:spTree>
    <p:extLst>
      <p:ext uri="{BB962C8B-B14F-4D97-AF65-F5344CB8AC3E}">
        <p14:creationId xmlns:p14="http://schemas.microsoft.com/office/powerpoint/2010/main" val="196784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2026-09-11T09:12:12.7250000Z</dcterms:created>
  <dcterms:modified xsi:type="dcterms:W3CDTF">2026-09-11T09:12:12.7250000Z</dcterms:modified>
</coreProperties>
</file>